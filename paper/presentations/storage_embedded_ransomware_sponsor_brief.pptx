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e75615242a479a" /><Relationship Type="http://schemas.openxmlformats.org/officeDocument/2006/relationships/extended-properties" Target="/docProps/app.xml" Id="R782bb7cc05d64359" /><Relationship Type="http://schemas.openxmlformats.org/officeDocument/2006/relationships/officeDocument" Target="/ppt/presentation.xml" Id="Ra87fb8c540114f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b5a37d7cae0407d"/>
  </p:sldMasterIdLst>
  <p:notesMasterIdLst>
    <p:notesMasterId xmlns:r="http://schemas.openxmlformats.org/officeDocument/2006/relationships" r:id="R5d0c2eaf4878496e"/>
  </p:notesMasterIdLst>
  <p:sldIdLst>
    <p:sldId xmlns:r="http://schemas.openxmlformats.org/officeDocument/2006/relationships" id="256" r:id="R28a52b13d73443a8"/>
    <p:sldId xmlns:r="http://schemas.openxmlformats.org/officeDocument/2006/relationships" id="257" r:id="Rd75d59c3bf1c4d38"/>
    <p:sldId xmlns:r="http://schemas.openxmlformats.org/officeDocument/2006/relationships" id="258" r:id="R7a17f041acc2438a"/>
    <p:sldId xmlns:r="http://schemas.openxmlformats.org/officeDocument/2006/relationships" id="259" r:id="R0e0a6c33ba714d4d"/>
    <p:sldId xmlns:r="http://schemas.openxmlformats.org/officeDocument/2006/relationships" id="260" r:id="R3e838af00f344f2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5a37d7cae0407d" /><Relationship Type="http://schemas.openxmlformats.org/officeDocument/2006/relationships/theme" Target="/ppt/theme/theme1.xml" Id="R8f4c198cb92e4b1e" /><Relationship Type="http://schemas.openxmlformats.org/officeDocument/2006/relationships/notesMaster" Target="/ppt/notesMasters/notesMaster1.xml" Id="R5d0c2eaf4878496e" /><Relationship Type="http://schemas.openxmlformats.org/officeDocument/2006/relationships/presProps" Target="/ppt/presProps.xml" Id="R719936e610b745c6" /><Relationship Type="http://schemas.openxmlformats.org/officeDocument/2006/relationships/viewProps" Target="/ppt/viewProps.xml" Id="Ra11803aee0e84167" /><Relationship Type="http://schemas.openxmlformats.org/officeDocument/2006/relationships/tableStyles" Target="/ppt/tableStyles.xml" Id="Ra78e6175426d404f" /><Relationship Type="http://schemas.openxmlformats.org/officeDocument/2006/relationships/slide" Target="/ppt/slides/slide1.xml" Id="R28a52b13d73443a8" /><Relationship Type="http://schemas.openxmlformats.org/officeDocument/2006/relationships/slide" Target="/ppt/slides/slide2.xml" Id="Rd75d59c3bf1c4d38" /><Relationship Type="http://schemas.openxmlformats.org/officeDocument/2006/relationships/slide" Target="/ppt/slides/slide3.xml" Id="R7a17f041acc2438a" /><Relationship Type="http://schemas.openxmlformats.org/officeDocument/2006/relationships/slide" Target="/ppt/slides/slide4.xml" Id="R0e0a6c33ba714d4d" /><Relationship Type="http://schemas.openxmlformats.org/officeDocument/2006/relationships/slide" Target="/ppt/slides/slide5.xml" Id="R3e838af00f344f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96e9c44fb1f48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ecbd442863434b" /><Relationship Type="http://schemas.openxmlformats.org/officeDocument/2006/relationships/notesMaster" Target="/ppt/notesMasters/notesMaster1.xml" Id="Rf9f1c7a6c6974b9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73ffff478b44ee" /><Relationship Type="http://schemas.openxmlformats.org/officeDocument/2006/relationships/notesMaster" Target="/ppt/notesMasters/notesMaster1.xml" Id="Ref2e07167e194d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6ed37ff0d84239" /><Relationship Type="http://schemas.openxmlformats.org/officeDocument/2006/relationships/notesMaster" Target="/ppt/notesMasters/notesMaster1.xml" Id="R75ae3e6e4e2847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e308546f274a3e" /><Relationship Type="http://schemas.openxmlformats.org/officeDocument/2006/relationships/notesMaster" Target="/ppt/notesMasters/notesMaster1.xml" Id="R48c572e8d6b1451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35c255c9a94215" /><Relationship Type="http://schemas.openxmlformats.org/officeDocument/2006/relationships/notesMaster" Target="/ppt/notesMasters/notesMaster1.xml" Id="R5117aeafac8943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c6cef19dab415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d95cf25ce9f4d70" /><Relationship Type="http://schemas.openxmlformats.org/officeDocument/2006/relationships/slideLayout" Target="/ppt/slideLayouts/slideLayout2.xml" Id="R5448bf78bd1743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48bf78bd1743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de6230bdd54ff3" /><Relationship Type="http://schemas.openxmlformats.org/officeDocument/2006/relationships/notesSlide" Target="/ppt/notesSlides/notesSlide1.xml" Id="R1653c7e5da714e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74665704af44b6" /><Relationship Type="http://schemas.openxmlformats.org/officeDocument/2006/relationships/notesSlide" Target="/ppt/notesSlides/notesSlide2.xml" Id="R585730028d9a4b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417d64306c4256" /><Relationship Type="http://schemas.openxmlformats.org/officeDocument/2006/relationships/notesSlide" Target="/ppt/notesSlides/notesSlide3.xml" Id="R5292d3552f0c4b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32091bbb004668" /><Relationship Type="http://schemas.openxmlformats.org/officeDocument/2006/relationships/notesSlide" Target="/ppt/notesSlides/notesSlide4.xml" Id="R8100d19880454c4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dfa11c15544725" /><Relationship Type="http://schemas.openxmlformats.org/officeDocument/2006/relationships/notesSlide" Target="/ppt/notesSlides/notesSlide5.xml" Id="R182a0004f506435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BDE9D0-3A3A-4FF8-8041-C6BC02A8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BF9E6B-F631-4ADA-8F5F-DA07873A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9F4349-2915-48DB-858E-58A7C841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9617E2-86AA-488B-8628-A238F5D4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619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TECHNICAL SCOPE | ブロックストレージ組み込み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96C417-F5F3-46D5-BC9E-416D4C9C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10763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400" b="1">
                <a:solidFill>
                  <a:srgbClr val="0F172A"/>
                </a:solidFill>
                <a:latin typeface="Hiragino Mincho ProN"/>
                <a:ea typeface="Hiragino Mincho ProN"/>
                <a:cs typeface="Hiragino Mincho ProN"/>
              </a:rPr>
              <a:t>研究対象は、ブロックI/Oの流れに埋め込む軽量な異常検知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EB64B7-9F8C-406E-A301-62AD14EB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1028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06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ホストのプロセス名やファイルパスではなく、SCSI/NVMe風の要求メタデータを装置側で10秒ごとに集計し、AE候補へ渡せるかを検証します。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225E62-3F11-4C2C-A138-218112FB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"/>
            <a:ext cx="1809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1F5EAC-F33E-46C0-82B4-AF705FDA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Host / VM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9C9372-F352-485B-BECD-3F2130A1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1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アプリやOSの詳細には依存しない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03F215-BF15-45BF-90B4-E2B09ADD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067050"/>
            <a:ext cx="552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4340E1-73D1-4D40-969C-76AD6A6A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9527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D4738D-8E48-4669-AB52-6F7E9D3A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552700"/>
            <a:ext cx="2381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AECEA1-374A-41A1-9926-1503C704A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86050"/>
            <a:ext cx="2076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Block storage controller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89CBCD-F1C0-41AD-81CB-8E37238A7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71800"/>
            <a:ext cx="2076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1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timestamp / read-write / LBA / length を受ける境界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3E4695-E1BB-4294-8BC3-38E81A2E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067050"/>
            <a:ext cx="552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5A0F7F-1635-4733-8A91-E6552463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527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9D5D4B-6263-4FBE-AC72-91F619EA9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1809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FDDCB4-463D-49B5-A40B-36CFBE82D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76225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Protected volumes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59D24E-585C-48CE-A7AC-5AD18D7E7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4800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1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多数ボリュームを10秒刻みで見る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E4F488-386B-4434-9E9D-D2633619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81450"/>
            <a:ext cx="3714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AF50B7-814F-41DD-BFDA-43515A3B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719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組み込み検知パス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FF0405-8860-4E91-8041-82BD672B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533900"/>
            <a:ext cx="914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EC412C-EA04-446A-B33C-95CAFD51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81525"/>
            <a:ext cx="76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803D"/>
                </a:solidFill>
                <a:latin typeface="Menlo"/>
                <a:ea typeface="Menlo"/>
                <a:cs typeface="Menlo"/>
              </a:defRPr>
            </a:pPr>
            <a:r>
              <a:rPr sz="660" b="1">
                <a:solidFill>
                  <a:srgbClr val="15803D"/>
                </a:solidFill>
                <a:latin typeface="Menlo"/>
                <a:ea typeface="Menlo"/>
                <a:cs typeface="Menlo"/>
              </a:rPr>
              <a:t>collector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985E6C-B3B3-43B2-9B6F-2C90A8A3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14875"/>
            <a:ext cx="800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55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555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安いカウンタだけ集計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5D538A-4AED-4B31-B010-99DBC777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33900"/>
            <a:ext cx="914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910838-2FBC-4A76-88C8-2FBB6059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581525"/>
            <a:ext cx="76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803D"/>
                </a:solidFill>
                <a:latin typeface="Menlo"/>
                <a:ea typeface="Menlo"/>
                <a:cs typeface="Menlo"/>
              </a:defRPr>
            </a:pPr>
            <a:r>
              <a:rPr sz="660" b="1">
                <a:solidFill>
                  <a:srgbClr val="15803D"/>
                </a:solidFill>
                <a:latin typeface="Menlo"/>
                <a:ea typeface="Menlo"/>
                <a:cs typeface="Menlo"/>
              </a:rPr>
              <a:t>feature ring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837678-9D37-441D-B6EB-2796B101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714875"/>
            <a:ext cx="800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55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555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N x D の固定長列を保持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037456-1668-4EA8-80C7-9D4444D8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533900"/>
            <a:ext cx="914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6BBF64-8D36-45DB-A678-E6ACE8A3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81525"/>
            <a:ext cx="76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803D"/>
                </a:solidFill>
                <a:latin typeface="Menlo"/>
                <a:ea typeface="Menlo"/>
                <a:cs typeface="Menlo"/>
              </a:defRPr>
            </a:pPr>
            <a:r>
              <a:rPr sz="660" b="1">
                <a:solidFill>
                  <a:srgbClr val="15803D"/>
                </a:solidFill>
                <a:latin typeface="Menlo"/>
                <a:ea typeface="Menlo"/>
                <a:cs typeface="Menlo"/>
              </a:rPr>
              <a:t>AE score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DD1DF2-07D5-46CC-AED7-9D3394E3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714875"/>
            <a:ext cx="800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55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555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再構成誤差を装置外ロジックで採点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84F1DA-97D5-45CD-91E8-306F891C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34000"/>
            <a:ext cx="28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7F88E1-8AA7-4C42-B187-27F0DE3F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8637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1013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観測境界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33C207-2D30-4C6F-934F-F0EC8EB6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245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1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ブロック要求メタデータだけを前提にする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A2E569-B5C8-4E2D-9246-3FE7F18F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334000"/>
            <a:ext cx="28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5FD799-2AE8-4080-A435-DA4BB5A6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28637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1013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検証対象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162F6F-5D96-446E-B981-3BAFCE4B6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5245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1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装置内で回せるほど軽いMLかを測る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75F528A-9037-49A1-AECE-FA63C19F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334000"/>
            <a:ext cx="28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9BBAE20-CFFF-4CC2-835B-5154D219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28637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1013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未主張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CE6FE12-4B38-4EFE-8DDC-10A008FA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5245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1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検出性能や実運用の早期警告はまだ主張しない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70DBB4D-4D7B-4C57-916C-C725E362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26960AB-38A7-4A4B-AD41-01266CF2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914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docs/interface/ResearchBrief.md, docs/04_embedded_constraints.md, paper/sections/05_input_contract.tex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8F242D-9E8B-40BA-807D-0D1D144B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1402576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691414-18FA-4ED9-BF48-02FD27CA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5F8C10-2C5E-4258-8B7A-44BB6EF2E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5694D3-128E-4E29-A9C1-B8A2D095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951704-6A18-483B-B937-EEB1507F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619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INPUT CONTRACT | 10秒統計からML入力へ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568E5F-B4BC-45C9-BD85-B42E73D1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10668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F172A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475" b="1">
                <a:solidFill>
                  <a:srgbClr val="0F172A"/>
                </a:solidFill>
                <a:latin typeface="Hiragino Mincho ProN"/>
                <a:ea typeface="Hiragino Mincho ProN"/>
                <a:cs typeface="Hiragino Mincho ProN"/>
              </a:rPr>
              <a:t>MLに渡すのは、固定shapeの10秒統計列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9B861D-79BC-4E76-8A23-4C3FC763F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1028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06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ブロックストレージ装置の実装では、特徴の取り方そのものがコストです。payload scan や大きな履歴構造を避け、固定幅のテンソルへ落とします。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ED4C3B-3EE9-47A1-AF7E-7C6078D0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43815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61252A-CE29-4C3D-AF3F-F33FB278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717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088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frame_10s: 装置が安く集計できる候補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309921-FB21-45A4-9D99-B13D2739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D67778-7326-4FF7-9727-CEBB7FA5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1465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42A427-BF85-418F-8F47-C7B0EB00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622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653" b="1">
                <a:solidFill>
                  <a:srgbClr val="0F172A"/>
                </a:solidFill>
                <a:latin typeface="Menlo"/>
                <a:ea typeface="Menlo"/>
                <a:cs typeface="Menlo"/>
              </a:rPr>
              <a:t>count / bytes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71A438-D226-4F6E-B900-E399E4BF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62275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I/O量の強さ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E5805F-A1B3-4199-8811-A34C2CC1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0040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67A88F-76CB-482F-BA89-2F7E77647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93E522-C5A2-49A8-8947-120D09C3A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480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653" b="1">
                <a:solidFill>
                  <a:srgbClr val="0F172A"/>
                </a:solidFill>
                <a:latin typeface="Menlo"/>
                <a:ea typeface="Menlo"/>
                <a:cs typeface="Menlo"/>
              </a:rPr>
              <a:t>write ratio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C3FF90-C3BD-47A5-B5E4-7DE821980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248025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書き込み偏り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55E991-486F-4B5C-9AD0-7751D9CE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861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63369B-8D49-4165-8B2E-1CAE2395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48615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5E4FD2-78C4-4C9F-B812-7D34B3B3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337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653" b="1">
                <a:solidFill>
                  <a:srgbClr val="0F172A"/>
                </a:solidFill>
                <a:latin typeface="Menlo"/>
                <a:ea typeface="Menlo"/>
                <a:cs typeface="Menlo"/>
              </a:rPr>
              <a:t>mean LBA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A23F73-B613-45FC-89D1-89ED50A2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533775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アクセス位置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AAD65B-A330-44B4-A590-9248E1FC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7190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FB63E4-FDF7-43D1-AC42-8ADE7EF6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77190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F3B82C-DFF7-4CA8-BAD8-05AC032D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195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653" b="1">
                <a:solidFill>
                  <a:srgbClr val="0F172A"/>
                </a:solidFill>
                <a:latin typeface="Menlo"/>
                <a:ea typeface="Menlo"/>
                <a:cs typeface="Menlo"/>
              </a:rPr>
              <a:t>mean length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2F5306-C9CF-485F-9905-DBE5A24BA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19525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転送長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9C9778-471D-4DDC-91F7-6D01A696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576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573F62-D70F-45FF-80D5-BD296AB8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05765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26728C-6367-408F-9B69-D83E9FA2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052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653" b="1">
                <a:solidFill>
                  <a:srgbClr val="0F172A"/>
                </a:solidFill>
                <a:latin typeface="Menlo"/>
                <a:ea typeface="Menlo"/>
                <a:cs typeface="Menlo"/>
              </a:rPr>
              <a:t>delta mean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6C5221-55AB-4D2D-B723-5E6EEA98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05275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前窓からの変化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027117-A006-4147-8DBB-0D0FBFF4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4340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2B13E0-B5CB-4EB1-9313-C8B4FCB9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4340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D34132-82B4-4E50-BE8B-79B64829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910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653" b="1">
                <a:solidFill>
                  <a:srgbClr val="0F172A"/>
                </a:solidFill>
                <a:latin typeface="Menlo"/>
                <a:ea typeface="Menlo"/>
                <a:cs typeface="Menlo"/>
              </a:rPr>
              <a:t>optional telemetry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78F3E9-BCAC-4C23-BB2E-80951120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391025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安い圧縮/entropy風カウンタがある時だけ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F94885-E36A-4364-8F76-0338A383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291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C88DF0-F965-458D-9C11-CBFD2F64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62915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98D185-B3E3-4559-A80B-301504AF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6767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653" b="1">
                <a:solidFill>
                  <a:srgbClr val="0F172A"/>
                </a:solidFill>
                <a:latin typeface="Menlo"/>
                <a:ea typeface="Menlo"/>
                <a:cs typeface="Menlo"/>
              </a:rPr>
              <a:t>padding / mask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64196ED-8383-4E47-8A6F-86FFEF6A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676775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未提供欄は loss/score から外す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D06B1F5-26B1-4802-AF2C-A7DF79A9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76500"/>
            <a:ext cx="24765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DF689B-A459-4BB6-B36C-79A14BDA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90800"/>
            <a:ext cx="22098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788" b="0">
                <a:solidFill>
                  <a:srgbClr val="0F172A"/>
                </a:solidFill>
                <a:latin typeface="Menlo"/>
                <a:ea typeface="Menlo"/>
                <a:cs typeface="Menlo"/>
              </a:rPr>
              <a:t>X: [batch=1, N, D]</a:t>
            </a:r>
          </a:p>
          <a:p xmlns:a="http://schemas.openxmlformats.org/drawingml/2006/main">
            <a:pPr algn="l">
              <a:defRPr sz="788" b="0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788" b="0">
                <a:solidFill>
                  <a:srgbClr val="0F172A"/>
                </a:solidFill>
                <a:latin typeface="Menlo"/>
                <a:ea typeface="Menlo"/>
                <a:cs typeface="Menlo"/>
              </a:rPr>
              <a:t>initial: N=12, D=12</a:t>
            </a:r>
          </a:p>
          <a:p xmlns:a="http://schemas.openxmlformats.org/drawingml/2006/main">
            <a:pPr algn="l">
              <a:defRPr sz="788" b="0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788" b="0">
                <a:solidFill>
                  <a:srgbClr val="0F172A"/>
                </a:solidFill>
                <a:latin typeface="Menlo"/>
                <a:ea typeface="Menlo"/>
                <a:cs typeface="Menlo"/>
              </a:rPr>
              <a:t>context: 12 x 10s ~= 2 min</a:t>
            </a:r>
          </a:p>
          <a:p xmlns:a="http://schemas.openxmlformats.org/drawingml/2006/main">
            <a:pPr algn="l">
              <a:defRPr sz="788" b="0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788" b="0">
                <a:solidFill>
                  <a:srgbClr val="0F172A"/>
                </a:solidFill>
                <a:latin typeface="Menlo"/>
                <a:ea typeface="Menlo"/>
                <a:cs typeface="Menlo"/>
              </a:rPr>
              <a:t>score: outside MNN graph</a:t>
            </a:r>
          </a:p>
          <a:p xmlns:a="http://schemas.openxmlformats.org/drawingml/2006/main">
            <a:pPr algn="l">
              <a:defRPr sz="788" b="0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788" b="0">
                <a:solidFill>
                  <a:srgbClr val="0F172A"/>
                </a:solidFill>
                <a:latin typeface="Menlo"/>
                <a:ea typeface="Menlo"/>
                <a:cs typeface="Menlo"/>
              </a:rPr>
              <a:t>threshold: outside MNN graph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D2C53E-9BED-41BD-B0FA-424132D6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76500"/>
            <a:ext cx="23812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7DFF2A-45F9-4279-AADF-CFC8FDFB0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8605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rPr>
              <a:t>なぜ固定shapeか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0F53DF-2545-4630-91D5-71BBAF92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28950"/>
            <a:ext cx="1866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8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848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MNN変換、メモリ見積もり、10秒周期のCPUスケジュールを同じ条件で比較するため。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7D0DB3-C24F-4E40-AC27-2B3E591A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911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8A70036-CFDF-4B7C-ADE9-2C4A5B262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429250"/>
            <a:ext cx="480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7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7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使わない: ファイルパス / プロセス名 / ランサムウェア署名 / payload scan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9D9E7B6-D6FD-484F-921F-8A55F538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3911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5A06FC2-8B6D-4666-B05B-DA0EE1CF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429250"/>
            <a:ext cx="3276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7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7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使う: SCSI/NVMe風メタデータと安い装置カウンタ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B583250-ED9F-4D77-A91A-00EE7A72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D61B8FC-863B-4006-BC5D-6A8EBE95B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914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paper/sections/05_input_contract.tex, docs/04_embedded_constraints.md, docs/06_memory_aware_ae_candidates.md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2103596-DE72-4668-A2AD-679FE943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727238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D29738-09DF-4901-9BAC-DC0A2BAE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DDBC01-41D9-43FA-B39E-96A26129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CFC517-28FA-4737-8FBD-23EEDFB1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AEE7DB-4943-46A1-B564-0718B5EA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619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MODEL CANDIDATES | AE-01..05 の技術的な意味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F90B2-D5A4-4B40-9DDC-BA551BC8A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1066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400" b="1">
                <a:solidFill>
                  <a:srgbClr val="0F172A"/>
                </a:solidFill>
                <a:latin typeface="Hiragino Mincho ProN"/>
                <a:ea typeface="Hiragino Mincho ProN"/>
                <a:cs typeface="Hiragino Mincho ProN"/>
              </a:rPr>
              <a:t>候補AEは、複雑な演算を足す価値を順番に試すための比較群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73EF31-7997-4ADF-89AD-015BAC46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1028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06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初期値は N=12, D=12。parameter/raw weight は計画見積もりで、MNN変換後サイズや一時scratchは別に測ります。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64E446-8726-4ACC-ACA4-C27C2190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10591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F7FB87-7340-4756-BAF1-B54BEA26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62200"/>
            <a:ext cx="476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AB6072-5D2F-4540-8E87-E864EA832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362200"/>
            <a:ext cx="952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candidate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89FA4A-8760-454A-BBA7-DC3C85E5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62200"/>
            <a:ext cx="1333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operator role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A21D80-059F-4F2F-90FB-105B6042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62200"/>
            <a:ext cx="114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planning size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AFF47C-0B1B-410E-892F-A81A48C8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362200"/>
            <a:ext cx="114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評価する目的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924337-DEE8-42C6-9874-0B89DB25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86050"/>
            <a:ext cx="10591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74865B-5660-430A-BC29-B800C41D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28925"/>
            <a:ext cx="2400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defRPr>
            </a:pPr>
            <a:r>
              <a:rPr sz="945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rPr>
              <a:t>AE-01  Flat MLP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25F7AB-826F-4885-ADF3-B60E4188C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09875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810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flatten した2分窓を圧縮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EE4EAF-C10F-4F07-AF7F-7431792F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8194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765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9,944-20,768 params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730A74-437C-49A5-98F0-3F33872C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8003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8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818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粗い統計だけでズレが見えるか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5E5FBF-4E54-4B6A-9802-7A61B0D0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10591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9BF6AB-944D-4654-9831-DCD165B2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81375"/>
            <a:ext cx="2400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94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AE-02  Two-level Dense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8989BA-0A43-4274-8D6A-D5EEBEEB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62325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810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10秒ごとの圧縮 + 系列圧縮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EF8DE1-FD9F-4A4B-8C33-D157BF12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7185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765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5,836 params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45BE21-981E-487C-ABC0-B833A1E8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5280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8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818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時間演算なしで足りるか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4CAAB9-BA41-4DF3-B070-383E393B7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90950"/>
            <a:ext cx="10591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6F0966-4A47-4E7F-BFE9-07F1B8EE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33825"/>
            <a:ext cx="2400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4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AE-03  GRU context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36AA95-E1B8-47BF-8FB6-BE6C3153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14775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810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順序と過去文脈を付与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B09743-35E4-4602-8B6D-93D4EBBF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243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765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7,052 params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172953-BA44-4692-9C85-1F5503D5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9052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8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818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履歴を見ないと説明できないか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2D2360-A82E-46D1-950F-AA68B7C4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10591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FAFE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1E3C94-7292-45F0-8684-93B70B32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86275"/>
            <a:ext cx="2400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1">
                <a:solidFill>
                  <a:srgbClr val="0E7490"/>
                </a:solidFill>
                <a:latin typeface="Hiragino Sans"/>
                <a:ea typeface="Hiragino Sans"/>
                <a:cs typeface="Hiragino Sans"/>
              </a:defRPr>
            </a:pPr>
            <a:r>
              <a:rPr sz="945" b="1">
                <a:solidFill>
                  <a:srgbClr val="0E7490"/>
                </a:solidFill>
                <a:latin typeface="Hiragino Sans"/>
                <a:ea typeface="Hiragino Sans"/>
                <a:cs typeface="Hiragino Sans"/>
              </a:rPr>
              <a:t>AE-04  Temporal Conv1D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417D20-DF29-42A2-915C-25CF0861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467225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810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近傍時間の局所変化を抽出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60DAED-99D5-4179-AB34-B38BBEFF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7675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765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5,684 params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280C1C-0B2D-4775-955A-D96BE540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45770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8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818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GRUなしの時間特徴で足りるか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B18323-ED64-4860-A09F-C7C2F62E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10591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17F4B01-F911-423D-B012-C05F3CFEC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38725"/>
            <a:ext cx="2400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94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AE-05  Tiny CNN-GRU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E7BF0D-1385-4858-8EDD-E6E1CC61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019675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810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特徴混合 + 文脈 + bottleneck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500038F-DE37-41B8-B43C-FD6019CB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292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765" b="0">
                <a:solidFill>
                  <a:srgbClr val="64748B"/>
                </a:solidFill>
                <a:latin typeface="Menlo"/>
                <a:ea typeface="Menlo"/>
                <a:cs typeface="Menlo"/>
              </a:rPr>
              <a:t>8,052 params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56041B-0029-47E1-AB1F-DF44526B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0101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8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818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複合モデルの追加演算に価値があるか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2777C8-1037-476D-B911-DCFE50E5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657850"/>
            <a:ext cx="3771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35ADE00-9F78-427C-8897-D7456146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6959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7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57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選定方針: 簡単な候補で説明できるなら、そこで止める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CF5FBA1-9418-4851-9F95-E58EEE317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657850"/>
            <a:ext cx="4438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5D447D7-2D38-4E6F-A807-F48C2211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695950"/>
            <a:ext cx="428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7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7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未主張: 実測前に性能順位・MNN適合・500KB適合を言わない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A494396-BD68-4299-A5A2-383D4336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5947A34-2A80-4922-BBFB-3AAFA9FD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914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docs/06_memory_aware_ae_candidates.md, paper/sections/06_autoencoder_candidates.tex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AC9818-9D82-41B6-B93B-C515777B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5132514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A76EF8-430D-4321-A3E7-72184A80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4293BB-B890-4F5D-986E-E14C4458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BA6F24-D218-4190-A3D5-9BDA5453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37B767-C02C-40CA-8A1F-E2427462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619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RESOURCE BUDGET | MLに使える資源は小さい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4F7F73-A612-4761-8695-97B6AAE9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1066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400" b="1">
                <a:solidFill>
                  <a:srgbClr val="0F172A"/>
                </a:solidFill>
                <a:latin typeface="Hiragino Mincho ProN"/>
                <a:ea typeface="Hiragino Mincho ProN"/>
                <a:cs typeface="Hiragino Mincho ProN"/>
              </a:rPr>
              <a:t>ブロックストレージ内MLでは、重みより周辺状態とスケジュールが効く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5AAC2-EEB0-4286-A947-0992773B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1028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06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500 KBはvolumeごとのpersistent detector-data目標です。MNN runtimeや共有libraryとは分け、入力列・正規化・しきい値・score履歴まで含めて測ります。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8953A7-47FF-4EBC-A8B3-76EFD27F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44386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976A01-1DF8-4B0B-88FE-17949A74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098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B45309"/>
                </a:solidFill>
                <a:latin typeface="Menlo"/>
                <a:ea typeface="Menlo"/>
                <a:cs typeface="Menlo"/>
              </a:defRPr>
            </a:pPr>
            <a:r>
              <a:rPr sz="1088" b="1">
                <a:solidFill>
                  <a:srgbClr val="B45309"/>
                </a:solidFill>
                <a:latin typeface="Menlo"/>
                <a:ea typeface="Menlo"/>
                <a:cs typeface="Menlo"/>
              </a:rPr>
              <a:t>per-volume detector-data target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D2F45B-D2B4-4BBC-BA59-3B1C861E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28950"/>
            <a:ext cx="2724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548267-DAC8-4024-BE5D-250A0FBB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933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342A37-C327-47C0-B9EC-516F08F9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95625"/>
            <a:ext cx="2381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660" b="0">
                <a:solidFill>
                  <a:srgbClr val="0F172A"/>
                </a:solidFill>
                <a:latin typeface="Menlo"/>
                <a:ea typeface="Menlo"/>
                <a:cs typeface="Menlo"/>
              </a:rPr>
              <a:t>model weights + quant metadata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0D9A17-B4BA-4BC6-A6EE-AFB78E1C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95625"/>
            <a:ext cx="704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9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69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&lt;= 360 KB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1A6434-D4B6-4D68-9F20-81AAAF64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29000"/>
            <a:ext cx="2724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29A162-1076-45D5-9F2E-C15679F0F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429000"/>
            <a:ext cx="933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1F684E-51F5-478E-B279-5E59538A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95675"/>
            <a:ext cx="2381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660" b="0">
                <a:solidFill>
                  <a:srgbClr val="0F172A"/>
                </a:solidFill>
                <a:latin typeface="Menlo"/>
                <a:ea typeface="Menlo"/>
                <a:cs typeface="Menlo"/>
              </a:rPr>
              <a:t>10s input sequence buffers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0B7583-C677-4410-8BE8-5F16B07B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95675"/>
            <a:ext cx="704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90" b="1">
                <a:solidFill>
                  <a:srgbClr val="15803D"/>
                </a:solidFill>
                <a:latin typeface="Menlo"/>
                <a:ea typeface="Menlo"/>
                <a:cs typeface="Menlo"/>
              </a:defRPr>
            </a:pPr>
            <a:r>
              <a:rPr sz="690" b="1">
                <a:solidFill>
                  <a:srgbClr val="15803D"/>
                </a:solidFill>
                <a:latin typeface="Menlo"/>
                <a:ea typeface="Menlo"/>
                <a:cs typeface="Menlo"/>
              </a:rPr>
              <a:t>&lt;= 64 KB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7E9343-C35F-4A3D-A3D4-9011B776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2724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D0785B-5185-4500-8E02-592AD953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29050"/>
            <a:ext cx="933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7888E7-F25D-4CAD-AC8F-6774536A7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95725"/>
            <a:ext cx="2381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660" b="0">
                <a:solidFill>
                  <a:srgbClr val="0F172A"/>
                </a:solidFill>
                <a:latin typeface="Menlo"/>
                <a:ea typeface="Menlo"/>
                <a:cs typeface="Menlo"/>
              </a:rPr>
              <a:t>normalization / threshold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C0DBCC-8937-49E7-8BA3-9595C9F0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95725"/>
            <a:ext cx="704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90" b="1">
                <a:solidFill>
                  <a:srgbClr val="6D28D9"/>
                </a:solidFill>
                <a:latin typeface="Menlo"/>
                <a:ea typeface="Menlo"/>
                <a:cs typeface="Menlo"/>
              </a:defRPr>
            </a:pPr>
            <a:r>
              <a:rPr sz="690" b="1">
                <a:solidFill>
                  <a:srgbClr val="6D28D9"/>
                </a:solidFill>
                <a:latin typeface="Menlo"/>
                <a:ea typeface="Menlo"/>
                <a:cs typeface="Menlo"/>
              </a:rPr>
              <a:t>&lt;= 24 KB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A307CC-78AD-4923-BE2D-344C605E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29100"/>
            <a:ext cx="2724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042724-71CB-4B4B-B0AC-A36221E31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229100"/>
            <a:ext cx="933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494AB6-A01A-4DAD-A153-F1DC27FD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95775"/>
            <a:ext cx="2381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660" b="0">
                <a:solidFill>
                  <a:srgbClr val="0F172A"/>
                </a:solidFill>
                <a:latin typeface="Menlo"/>
                <a:ea typeface="Menlo"/>
                <a:cs typeface="Menlo"/>
              </a:rPr>
              <a:t>score history / explanation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53588A-D274-4BCB-81F6-85F386CF2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295775"/>
            <a:ext cx="704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90" b="1">
                <a:solidFill>
                  <a:srgbClr val="0E7490"/>
                </a:solidFill>
                <a:latin typeface="Menlo"/>
                <a:ea typeface="Menlo"/>
                <a:cs typeface="Menlo"/>
              </a:defRPr>
            </a:pPr>
            <a:r>
              <a:rPr sz="690" b="1">
                <a:solidFill>
                  <a:srgbClr val="0E7490"/>
                </a:solidFill>
                <a:latin typeface="Menlo"/>
                <a:ea typeface="Menlo"/>
                <a:cs typeface="Menlo"/>
              </a:rPr>
              <a:t>&lt;= 16 KB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0502E0-A1E4-4CC6-B978-4AA123F8F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2724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2C3306-36CA-4E29-BEDF-0F782DC6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629150"/>
            <a:ext cx="933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1BD8DA-E0F9-47EE-A752-9FE99C47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95825"/>
            <a:ext cx="2381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660" b="0">
                <a:solidFill>
                  <a:srgbClr val="0F172A"/>
                </a:solidFill>
                <a:latin typeface="Menlo"/>
                <a:ea typeface="Menlo"/>
                <a:cs typeface="Menlo"/>
              </a:rPr>
              <a:t>metadata + margin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56E2FA-CF53-42D5-9307-6237C03F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95825"/>
            <a:ext cx="704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90" b="1">
                <a:solidFill>
                  <a:srgbClr val="B45309"/>
                </a:solidFill>
                <a:latin typeface="Menlo"/>
                <a:ea typeface="Menlo"/>
                <a:cs typeface="Menlo"/>
              </a:defRPr>
            </a:pPr>
            <a:r>
              <a:rPr sz="690" b="1">
                <a:solidFill>
                  <a:srgbClr val="B45309"/>
                </a:solidFill>
                <a:latin typeface="Menlo"/>
                <a:ea typeface="Menlo"/>
                <a:cs typeface="Menlo"/>
              </a:rPr>
              <a:t>&lt;= 36 KB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B37F14-CC22-41F6-9120-CE0B6FED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933950"/>
            <a:ext cx="3333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計画値。実機・MNN変換後の測定で置き換える。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1FDD15-FA66-4E46-A01C-94918F86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00300"/>
            <a:ext cx="5334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26BC54-7E4E-4EAB-A9FC-EAA50D79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098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15803D"/>
                </a:solidFill>
                <a:latin typeface="Menlo"/>
                <a:ea typeface="Menlo"/>
                <a:cs typeface="Menlo"/>
              </a:defRPr>
            </a:pPr>
            <a:r>
              <a:rPr sz="1088" b="1">
                <a:solidFill>
                  <a:srgbClr val="15803D"/>
                </a:solidFill>
                <a:latin typeface="Menlo"/>
                <a:ea typeface="Menlo"/>
                <a:cs typeface="Menlo"/>
              </a:rPr>
              <a:t>aggregate device-fit view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C8CDDF-80C8-4862-ABBF-43FC1BF2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990850"/>
            <a:ext cx="457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773" b="0">
                <a:solidFill>
                  <a:srgbClr val="0F172A"/>
                </a:solidFill>
                <a:latin typeface="Menlo"/>
                <a:ea typeface="Menlo"/>
                <a:cs typeface="Menlo"/>
              </a:rPr>
              <a:t>M_persistent(V) = M_shared_runtime + M_shared_weights + V x state_per_volume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3CCCB1-98C4-4435-99A8-758CDAA3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5755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73" b="0">
                <a:solidFill>
                  <a:srgbClr val="0F172A"/>
                </a:solidFill>
                <a:latin typeface="Menlo"/>
                <a:ea typeface="Menlo"/>
                <a:cs typeface="Menlo"/>
              </a:defRPr>
            </a:pPr>
            <a:r>
              <a:rPr sz="773" b="0">
                <a:solidFill>
                  <a:srgbClr val="0F172A"/>
                </a:solidFill>
                <a:latin typeface="Menlo"/>
                <a:ea typeface="Menlo"/>
                <a:cs typeface="Menlo"/>
              </a:rPr>
              <a:t>M_peak(V,Q) = M_persistent(V) + Q x transient_scratch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D9F864-93AB-4738-84A4-54BF3C55A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038600"/>
            <a:ext cx="1600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18D8F6-2B1D-4693-A304-8CE93FF0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171950"/>
            <a:ext cx="1295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V ~= 2000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EBBC49-11FF-4812-BDC9-35AB30C6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57700"/>
            <a:ext cx="1295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多数volumeで同じ10秒cadenceを守る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4083B1-90BF-4633-8949-94A06466A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38600"/>
            <a:ext cx="1600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774B21-CDF7-44EC-8A62-27CECC319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71950"/>
            <a:ext cx="1295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rPr>
              <a:t>Q slots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6B719DC-29A0-46FD-A723-6670DCB3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457700"/>
            <a:ext cx="1295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同時推論slot数で一時scratchが増える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F0F0032-CD42-4429-8F5A-BEA99B3F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038600"/>
            <a:ext cx="1600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31BF4A-3B19-4AEA-AC51-E0B21810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171950"/>
            <a:ext cx="1295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CPU window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7176073-9412-405E-8DA6-81F4FF0B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457700"/>
            <a:ext cx="1295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10秒内に全volumeを採点できるか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784FADC-9947-4199-B42D-5452BB6C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6000B8E-1DC9-443D-A189-7FE610AD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914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docs/04_embedded_constraints.md, paper/sections/08_mnn_implementation_plan.tex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0326CCB-D2A5-4B9B-81D7-A3AFEFF14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0271331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73206D-FF6F-4945-9405-A81E6DE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18069D-D29A-4C74-93D8-75DFB752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F23E63-9391-464D-B9BB-4DBD42BC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F8B7B3-7DF1-467D-AF4D-1E49B0D1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619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EVALUATION | 技術判断に必要な証拠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06F431-8F95-4ADF-9CEB-04657918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1066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400" b="1">
                <a:solidFill>
                  <a:srgbClr val="0F172A"/>
                </a:solidFill>
                <a:latin typeface="Hiragino Mincho ProN"/>
                <a:ea typeface="Hiragino Mincho ProN"/>
                <a:cs typeface="Hiragino Mincho ProN"/>
              </a:rPr>
              <a:t>検出精度だけでなく、MNN parity・メモリ・10秒cadenceで採否を決める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B6E82-19D1-4383-8F16-1DD2C97A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1028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6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06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スポンサー向けに見せるべき論点は、すぐ導入できるかではなく、どの制約で候補を採用・縮小・棄却するかです。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ED5D93-E15A-4CCD-A171-E12A18D22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9350"/>
            <a:ext cx="22479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71C97E-A6DA-4BF5-B57C-2D574C07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52700"/>
            <a:ext cx="1943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1. offline検証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3454B6-7703-40CC-920D-B77F13A7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19431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benign-only学習、単純規則、AE-01..05、低誤警報で比較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40390B-8CC2-4B76-A3F8-560C58EB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89560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425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B53285-32B2-415E-9424-33989681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419350"/>
            <a:ext cx="22479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DADC0A-99F1-4C49-B782-4359802D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552700"/>
            <a:ext cx="1943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rPr>
              <a:t>2. score parity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A76B2F-66A7-47C1-BBB8-3F4E9D3D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38450"/>
            <a:ext cx="19431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同一入力でoffline scoreとMNN scoreの差を測る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054CF1-2F96-4E1F-B0F9-4DDF9774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89560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425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B58227-95CB-4643-8FE8-3563E685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19350"/>
            <a:ext cx="22479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03E1D2-2D80-45BC-9256-98AACE56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1943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3. detector-data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3854F3-3690-479A-8CD8-761A4324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38450"/>
            <a:ext cx="19431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重み、入力列、正規化、threshold、履歴が500 KB内か測る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FF91AD-98A1-43D3-981B-AF6C0A45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425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92683-2F44-4735-9F2C-D33737DE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19350"/>
            <a:ext cx="22479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7DE8AF-0EF6-4763-95C0-80A5E322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552700"/>
            <a:ext cx="1943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4. scheduling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05BC21-4690-4DD4-91B4-CF86DEC22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38450"/>
            <a:ext cx="19431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V volumeとQ inference slotで10秒cadenceを守れるか測る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C3C411-5F6A-4CF7-B252-BF10A96F0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91000"/>
            <a:ext cx="46291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638B9A-7B95-4E92-8456-9CC0BEC5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005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主要な評価値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A116C1-D720-4716-8236-D565A2E7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781550"/>
            <a:ext cx="1676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EE0BA5-D10F-4297-A186-9A81874F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196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7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7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誤警報の少なさ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D4FDFC-A461-4DEB-975E-1968E362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781550"/>
            <a:ext cx="1676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027754-A638-40F5-8D52-B46A3098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196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7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7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警告までの時間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3EA917-DDD5-4148-905D-677ECA0AC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105400"/>
            <a:ext cx="1676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4CD732-04B7-4A76-BDFC-FAB321EC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1435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7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757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警告前の被害量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A45927-1432-490B-9448-95582B43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05400"/>
            <a:ext cx="1676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A28615-451E-473C-81BD-674A1246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435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7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757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どの特徴がズレたか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66EB26-A3D1-4686-A9A4-3580E4C4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91000"/>
            <a:ext cx="44386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005039-F606-4542-8D0E-04E98609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005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制約に当たった時の縮小順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34E1D5-48E8-484C-8177-08C54E1F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62500"/>
            <a:ext cx="3676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55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defRPr>
            </a:pPr>
            <a:r>
              <a:rPr sz="855" b="0">
                <a:solidFill>
                  <a:srgbClr val="0F172A"/>
                </a:solidFill>
                <a:latin typeface="Hiragino Sans"/>
                <a:ea typeface="Hiragino Sans"/>
                <a:cs typeface="Hiragino Sans"/>
              </a:rPr>
              <a:t>feature数 D を減らす -&gt; 系列長 N を短くする -&gt; hidden size を縮める -&gt; AE-05から単純候補へ戻す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78DFB2-8938-49AF-8B0C-716EEE03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6959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21E9FE-955E-48B1-B803-65D92FA03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734050"/>
            <a:ext cx="480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7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57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固定済み: block I/O観測境界、10秒統計、AE候補、device-fit gates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690B4E5-4339-4A87-B5E9-5FF27AE1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695950"/>
            <a:ext cx="400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495EEE-F034-4EE2-91E1-682FC690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734050"/>
            <a:ext cx="3848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7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7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未主張: 検出性能、MNN readiness、500KB適合、実運用早期警告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C037A11-6F86-4A3D-9FF2-5CE495CC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984BB73-0B91-4690-8308-58E21BE4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914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5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paper/sections/07_evaluation_plan.tex, paper/sections/08_mnn_implementation_plan.tex, docs/evidence/manuscript_claim_gate_matrix.md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586A49D-46BC-434B-BFDD-C96AEA03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087582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2026-05-06T04:53:16.0930000Z</dcterms:created>
  <dcterms:modified xsi:type="dcterms:W3CDTF">2026-05-06T04:53:16.0930000Z</dcterms:modified>
</coreProperties>
</file>