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f12f2001034935" /><Relationship Type="http://schemas.openxmlformats.org/officeDocument/2006/relationships/extended-properties" Target="/docProps/app.xml" Id="R081c299a1eae4be9" /><Relationship Type="http://schemas.openxmlformats.org/officeDocument/2006/relationships/officeDocument" Target="/ppt/presentation.xml" Id="Rf9629f36d90043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c96b96c26642f0"/>
  </p:sldMasterIdLst>
  <p:notesMasterIdLst>
    <p:notesMasterId xmlns:r="http://schemas.openxmlformats.org/officeDocument/2006/relationships" r:id="R3c4f3fe797934daf"/>
  </p:notesMasterIdLst>
  <p:sldIdLst>
    <p:sldId xmlns:r="http://schemas.openxmlformats.org/officeDocument/2006/relationships" id="256" r:id="Rf2869630553e45f1"/>
    <p:sldId xmlns:r="http://schemas.openxmlformats.org/officeDocument/2006/relationships" id="257" r:id="Rdd146b5f8c5c4e28"/>
    <p:sldId xmlns:r="http://schemas.openxmlformats.org/officeDocument/2006/relationships" id="258" r:id="R29bd1c98d999413b"/>
    <p:sldId xmlns:r="http://schemas.openxmlformats.org/officeDocument/2006/relationships" id="259" r:id="Ra25d3d61687c472e"/>
    <p:sldId xmlns:r="http://schemas.openxmlformats.org/officeDocument/2006/relationships" id="260" r:id="R9ffd79c1140843e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96b96c26642f0" /><Relationship Type="http://schemas.openxmlformats.org/officeDocument/2006/relationships/theme" Target="/ppt/theme/theme1.xml" Id="R805fcbf0c3344305" /><Relationship Type="http://schemas.openxmlformats.org/officeDocument/2006/relationships/notesMaster" Target="/ppt/notesMasters/notesMaster1.xml" Id="R3c4f3fe797934daf" /><Relationship Type="http://schemas.openxmlformats.org/officeDocument/2006/relationships/presProps" Target="/ppt/presProps.xml" Id="R18aef9f456454019" /><Relationship Type="http://schemas.openxmlformats.org/officeDocument/2006/relationships/viewProps" Target="/ppt/viewProps.xml" Id="Rb798ddbd0d6d467d" /><Relationship Type="http://schemas.openxmlformats.org/officeDocument/2006/relationships/tableStyles" Target="/ppt/tableStyles.xml" Id="Red8da617e7404ca5" /><Relationship Type="http://schemas.openxmlformats.org/officeDocument/2006/relationships/slide" Target="/ppt/slides/slide1.xml" Id="Rf2869630553e45f1" /><Relationship Type="http://schemas.openxmlformats.org/officeDocument/2006/relationships/slide" Target="/ppt/slides/slide2.xml" Id="Rdd146b5f8c5c4e28" /><Relationship Type="http://schemas.openxmlformats.org/officeDocument/2006/relationships/slide" Target="/ppt/slides/slide3.xml" Id="R29bd1c98d999413b" /><Relationship Type="http://schemas.openxmlformats.org/officeDocument/2006/relationships/slide" Target="/ppt/slides/slide4.xml" Id="Ra25d3d61687c472e" /><Relationship Type="http://schemas.openxmlformats.org/officeDocument/2006/relationships/slide" Target="/ppt/slides/slide5.xml" Id="R9ffd79c1140843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427c7719d0645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7ac45aa2144735" /><Relationship Type="http://schemas.openxmlformats.org/officeDocument/2006/relationships/notesMaster" Target="/ppt/notesMasters/notesMaster1.xml" Id="R7e3eff694c3843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153c7c38a84b2e" /><Relationship Type="http://schemas.openxmlformats.org/officeDocument/2006/relationships/notesMaster" Target="/ppt/notesMasters/notesMaster1.xml" Id="Rfdbb54d30e1b4f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fdf9cc5de74098" /><Relationship Type="http://schemas.openxmlformats.org/officeDocument/2006/relationships/notesMaster" Target="/ppt/notesMasters/notesMaster1.xml" Id="R8ba2458791e541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501cce1d8144d1" /><Relationship Type="http://schemas.openxmlformats.org/officeDocument/2006/relationships/notesMaster" Target="/ppt/notesMasters/notesMaster1.xml" Id="Rf4f6059f016f40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ce1fcaf41a4fb9" /><Relationship Type="http://schemas.openxmlformats.org/officeDocument/2006/relationships/notesMaster" Target="/ppt/notesMasters/notesMaster1.xml" Id="Re91d4943c9e64a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14ab031b8648a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a018461dea44759" /><Relationship Type="http://schemas.openxmlformats.org/officeDocument/2006/relationships/slideLayout" Target="/ppt/slideLayouts/slideLayout2.xml" Id="R19fcef3e8eaf4f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fcef3e8eaf4f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83cde55f834c54" /><Relationship Type="http://schemas.openxmlformats.org/officeDocument/2006/relationships/notesSlide" Target="/ppt/notesSlides/notesSlide1.xml" Id="R941d4b31a8f24f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320601f17c4d30" /><Relationship Type="http://schemas.openxmlformats.org/officeDocument/2006/relationships/notesSlide" Target="/ppt/notesSlides/notesSlide2.xml" Id="R2377c31b1e3e4d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df33ce7db547f1" /><Relationship Type="http://schemas.openxmlformats.org/officeDocument/2006/relationships/notesSlide" Target="/ppt/notesSlides/notesSlide3.xml" Id="Rad28c202093d4f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a48d655fb54429" /><Relationship Type="http://schemas.openxmlformats.org/officeDocument/2006/relationships/notesSlide" Target="/ppt/notesSlides/notesSlide4.xml" Id="Rddbfb1a2088b4b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00b61916c34c0d" /><Relationship Type="http://schemas.openxmlformats.org/officeDocument/2006/relationships/notesSlide" Target="/ppt/notesSlides/notesSlide5.xml" Id="Rd6e1b39a9ec444a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C75729-5D07-4696-8550-96189F4B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00BF8-7286-45DB-B30A-2C7B3F72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6B154921-C8CC-428D-B87A-7751B615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48C4618-242A-4611-B039-EDE9021B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SPONSOR BRIEF | 研究内容紹介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9CCFD-38CC-4B6D-99E2-5480CA31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61912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7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ホスト側が見えにくくなっても、ストレージには観測点が残る。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486BD-6280-480E-9235-C65806C5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71675"/>
            <a:ext cx="561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ランサムウェアがプロセス名やファイル名を隠しても、永続データへ届く read/write の時系列は装置側で観測できます。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CB6EB-0EB0-4A21-A634-0DE479A1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542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150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この研究は、社会インフラ・医療・企業活動の停止を短くするために、ストレージ装置内で早く気づける条件を検証します。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7BB21-87A3-41C3-92C3-FA609899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838200"/>
            <a:ext cx="46863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65B0F5-0AF5-4632-B2EE-E4D14624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1239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最後に近い観測点の候補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E2AED-A593-4E0B-8D07-81E06B37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676400"/>
            <a:ext cx="1600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5AF7F-8F64-450F-ACD5-A0A54406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00225"/>
            <a:ext cx="1257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侵害されたホスト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E62EE0-4A56-4C6D-A562-9F5E03EF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098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OS・プロセス・ファイル名は信用しきれない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20AD40-86D1-4A77-894D-1B4A16EC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76400"/>
            <a:ext cx="1695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4AB901-6DC2-40C3-886A-8412C932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00225"/>
            <a:ext cx="1352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ブロックI/O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3A0BF0-3155-4321-8BC0-58E30D7A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0980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read/write、LBA、転送長、時刻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5C2EFD-C643-485C-8D7F-08C35540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095500"/>
            <a:ext cx="22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D4FF6-4B04-4986-991C-0B7C76C1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19450"/>
            <a:ext cx="36766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5AC688-1C66-4A75-B6B1-59DC6EE8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48050"/>
            <a:ext cx="3219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ストレージ装置内の小型検出器候補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8E3F92-EC09-4646-AF19-903A4038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1000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10秒統計から、正常時系列とのズレを評価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30B8D-4B17-4395-BA57-6EFFA0E8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003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5E9827-918D-468F-BC5C-9F89E933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028950"/>
            <a:ext cx="19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CBD5E1"/>
                </a:solidFill>
                <a:latin typeface="Menlo"/>
                <a:ea typeface="Menlo"/>
                <a:cs typeface="Menlo"/>
              </a:rPr>
              <a:t>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550F0D-7ADC-47C3-983B-1DF13207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8B7489-AD5C-4059-A417-784B98C2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情報は少ない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20B8D4-4B84-4210-A272-D2B338AD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05425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だからホストに依存しない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CD149-A38E-4995-9B9A-0283EB63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0101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4849D4-292A-4D9F-9515-84F6B3E7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720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特徴は安い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886423-97A2-4480-94A7-9FDE4CBD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305425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10秒統計へ集約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0A7AF9-FBC7-4A3A-9697-CD675AFC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10150"/>
            <a:ext cx="285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3E846A-A121-49EC-91C8-151CA0F0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9720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証拠で判断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F5D143-D1E6-4128-8B5F-4966223B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305425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性能・適合は未主張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4BF818-18AE-488B-9BCB-DBD8871C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640365-8CBA-4EC0-AF37-26CEC9A1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paper/sections/01_introduction.tex, 03_observation_threat_model.tex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392AF7-FA38-455E-8A23-CF0A6353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7243067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0E9661-917B-4B43-995E-439D7AD7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851B89-B9B6-4D2A-ACF0-B89F1CCE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CDC87FB-0E0E-4068-9DCE-3ADD71B3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77D70EC-7E39-4304-8796-5837488C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OBSERVATION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1DC6C-F412-43FF-A432-0F6AF2BF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1915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5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中身を読まず、10秒ごとの安い統計だけで異常を見ます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DBC1BE-7E5B-4F5C-AF50-6DFE1DEF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742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重いペイロード走査やファイル名ではなく、装置がすでに扱うメタデータを固定幅の時系列にします。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DE9A3-3157-43E5-9539-E627D8CF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180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6D577D-D4CF-48AA-B9CC-816375C8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I/Oイベント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C07F0-E697-4844-B9AE-749BC4F0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時刻 / read-write / LBA / 転送長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DB2AF-91F3-448E-A5DD-544E1435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86100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25F7F-7545-4E30-8E7B-318F8022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718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8ED46A-A003-4178-8F4E-A4487389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33650"/>
            <a:ext cx="2171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A07B9-93FD-4A6A-B157-9BF96579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57475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1枚の10秒フレーム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8F836C-1F12-49E0-9FD1-89BF3A58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670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最大12個の統計欄。使えない欄は空扱い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BC248-63EC-4097-895D-07378B85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86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44AE5-7B50-41F9-BC96-3011563D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718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8559B0-4DF5-4DCF-92AD-0639698C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3365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CFD99D-0F4F-4A37-A748-17327D34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時間文脈を作る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984CBB-BEEA-49F3-AEB7-3230009A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67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初期候補は12フレーム、つまり約2分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E86921-783A-4F7C-B2DB-FE3007D4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86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C0D36-1EB0-4BC5-B501-11BCC697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718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885712-ED24-4543-BE90-3BF4833B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33650"/>
            <a:ext cx="2076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BD5113-FED6-4878-88E1-AE2D3869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57475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固定入力にする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3BF007-AC5B-4D57-9201-6BDFA395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67050"/>
            <a:ext cx="1733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統計欄と時間幅をそろえ、maskで除外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60A606-7B3F-4308-B081-DCD520A7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10706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6946BB-2BF5-4465-9982-A94BCA00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4342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あえて使わないもの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1F5735-40A5-48CA-ABA9-316B0CFB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42F278-201C-4447-AB97-4465562A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ファイル名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DB614A-A343-4356-89B1-BD3C532B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E79522-1D13-496D-8BD7-BE012288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プロセス名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970CD9-3D2C-463A-AE48-1864CB9F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3DD1B4-2308-4DA1-BE96-3A16E6E4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署名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866D98-FE70-4140-8F43-0355C739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1066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B86EA3-9CA5-4FB0-B37D-5D527E0A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33900"/>
            <a:ext cx="914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ファイル内容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C19B12-3C5B-47A1-9E9A-9471B3A6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14850"/>
            <a:ext cx="1447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1D1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AE17CE-4687-4EB7-8F79-C36F03ED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33900"/>
            <a:ext cx="12954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重いエントロピー計算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E96015-4804-46D2-B14E-81AC41BA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95850"/>
            <a:ext cx="733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915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除外する理由: ストレージ装置単体では見えない、またはコストが高く、組み込み主張を弱くするため。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F0B48B-A7E3-46A9-BF80-3605AFB9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CC4D81-1DCE-4834-AC82-83B45577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81650"/>
            <a:ext cx="857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013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圧縮率・entropy相当信号は、装置側に安い既存カウンタがある場合だけ optional として評価します。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05F4EA-6159-4723-8C4E-00CDA165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4421CF-9E2D-431A-ABCD-402CE7CC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paper/sections/03_observation_threat_model.tex, 05_input_contract.tex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9B342D-A19A-4610-B0A5-0378A958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2894571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40C2C1-3D00-463A-9115-3D6834F3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6666A-9A4A-47B6-A41B-BA3739A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BDD9E3C-AE7C-4894-B78F-C56161A7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4D17074-1C52-4482-BD8C-9F3B53CF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DETECTOR HYPOTHESIS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D0CE5-16CE-4BD2-A5DE-DAFEC4B9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1028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AutoEncoderは、正常な書き込みリズムからのズレを探します。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BEB11-F081-488A-85A5-F290C3E8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752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既知のランサムウェア名を当てる分類器ではなく、benign だけで学習した正常時系列を再構成できるかを見ます。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07FBB-CA5D-4D46-8E10-9DB9E1CF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25908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326F0A-D1F4-4000-9519-C9429F5D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66975"/>
            <a:ext cx="2247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1. 正常データだけで学習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E84D39-897E-4AC7-9997-2AFB4F9A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247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通常時の10秒統計列を圧縮し、同じ形へ戻す練習をする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A6CA9-FA60-47B3-A2E0-BC84A652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8A990-C61A-492D-9272-ED0F88CA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14927-1D72-4E25-991C-20E9073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43150"/>
            <a:ext cx="2647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A0625-DB55-45F6-8C16-D5D413C6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66975"/>
            <a:ext cx="2305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2. 現在の窓を再構成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34273-142F-4C89-AD82-D3E4DB25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76550"/>
            <a:ext cx="2305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入力 X と復元 X-hat を比較。score はMNN外で計算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61C9F-3E88-4D06-BDB5-B9FCF1D5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527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DC446-A8CB-42C4-AE91-4C456974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384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56A017-D960-404D-A080-CC409421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43150"/>
            <a:ext cx="2724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FCA07-3025-4FB6-9CC3-57D4F704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66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3. ズレの大きい窓を候補化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2228C0-D1DE-4152-8FF8-E36B4F96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76550"/>
            <a:ext cx="238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検証中の仮説として、外れた統計を返す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0F13F-707B-4779-9E73-F128382B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49530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F7F697-BA24-4112-BA64-2700147E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62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概念図: 正常時は誤差が小さい想定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CBA61C-45DB-4AAF-A2A8-1295C2C5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577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713D5A-65D2-4D2B-BA46-A0CFB361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count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90C7D3-B3D4-42A6-81D5-720B9C41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14900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B4B83-2DE7-4FFE-9CAD-48C0D15C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bytes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4D62C8-E0A7-48FA-B58D-BAAAD202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10125"/>
            <a:ext cx="3238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D91DC9-1E22-4564-8C9E-A956EB08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244566-1C35-43C9-B711-FCA60169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67275"/>
            <a:ext cx="3238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4A6F7A-E4C6-4CCE-8C14-083C7B77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LBA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7789D3-C5CD-420F-9B6F-1736A23B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339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D7291E-6B9B-4B4E-BADB-548839D2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C17DA7-E296-4E2E-9AE5-4381FD69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895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BD6B44-2008-4C01-A8DD-35E60A87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delta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49819B-DE45-4DF5-BCFC-6BECE2FF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625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80465A-69EB-4498-A19B-0A7C8523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71950"/>
            <a:ext cx="49530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5DB1C6-E358-4C6B-B540-DFBABB65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62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概念図: 検証する仮説上の異常窓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7401B0-7A99-4504-9A05-B16C4F57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387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792939-74A8-43D4-8C7D-0ABC3C8E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count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DA3004-68C8-4CB5-82F2-FEA305FA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629150"/>
            <a:ext cx="323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9F5791-6A9D-4010-89FB-DF38F900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bytes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BE373F-54B4-41E4-A8F2-98CD9582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91050"/>
            <a:ext cx="323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945DEA-F276-476D-804A-F4AD4254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C7A602-4558-4F06-8B16-8C9A8E16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05350"/>
            <a:ext cx="323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5FF63E-1D02-499D-A4EA-0F2C41CA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LBA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AF461D-9F4A-4DEF-A38D-80E8E500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876800"/>
            <a:ext cx="32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0DF5D6-8F9F-4504-8AFD-EB2FFA70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len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BB71BD-E67F-4E44-ACC1-29AA4239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667250"/>
            <a:ext cx="323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B6E3A5-D527-41CE-B4FE-3715F03E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2197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delta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36440F-46EC-4D10-86CB-6B8440CD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625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5B96F9-FD58-4D13-BE63-0C30CD9A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676900"/>
            <a:ext cx="22669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FE55D15-2F48-4069-ACDC-83C7429A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695950"/>
            <a:ext cx="2114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模式図。性能値は非主張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7E61EC-7F27-483A-BEFD-3D130D1D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739A948-1528-464A-AFF3-1CE29F3C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paper/sections/00_abstract.tex, 06_autoencoder_candidates.tex, 07_evaluation_plan.tex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C80876-45BD-43E3-A551-42062799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165608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D374C6-0B5E-4A64-B8F3-A4C8EF2D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1BDDA-6D9F-42A4-8B45-F68A4959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00FA4A1-BA50-416C-A0A8-50CCE74A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0B997F6-7BD7-4A9B-998B-5340C485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EVIDENCE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48F93-63A9-44EF-8192-7589E28C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4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成功を急がず、失敗条件まで測ることがこの研究の価値です。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4B4893-B05E-43A6-9E0B-87550C5A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819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スポンサー向けにも、ここは誇張しません。現時点で言えるのは「検証プロトコルが固定された」ことです。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F316C-A644-4EBA-9119-633AAD3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FE6EF-9AE4-4D6B-8641-63D21B91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主張クラス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5DB431-FF9C-40D2-9716-00E195C3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955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現在の扱い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CA4E64-16FE-43E5-8E02-63C669E2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95550"/>
            <a:ext cx="466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信頼できる主張にする条件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3DBDF-E9BC-4343-AD89-28DFE3C9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20748A-4EEE-4599-8B21-A58A8BF0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データセット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5ABE4-FC24-49CF-8A23-5FFDA2E7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4800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67CD4-EFA0-4C65-9749-8929C138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6705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候補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6FBFB-2469-43F5-B12E-4F63E637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00990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出典、利用条件、実験の分け方を確認してから使う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384E6B-95E1-4DD2-A1D9-2E50D60E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85649B-C58C-47AC-9939-33073740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検出性能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755C2-70DB-473E-B28A-74B7F73A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A7D692-E8AA-4396-A5A9-F0C396E8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C9D8C1-B0B4-4DF3-9ADB-3A5DBF1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67665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同じ条件で再実行できる実験記録と結果が必要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45395C-B7D7-4B7F-8367-27BD9FEE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A93A08-2372-4B67-8445-78F86B33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9102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低false alarm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10E1CB-D34D-4FC7-A3A0-A6258E23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8150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EE697E-4655-4DC2-ADD4-B8E36D15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0055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9C12E3-03F3-4AAC-9E52-AA2FFF72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4340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正常業務だけのテストで、1日あたり何回鳴るかを測る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35ABED-A1D8-4412-8A9C-A5623614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990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D47D56-9066-4BA6-8600-B0ED0777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57775"/>
            <a:ext cx="2171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MNN / 500 KB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956457-17FD-4AA9-A091-0A6FBBD2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48250"/>
            <a:ext cx="9144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91B950-A4F9-4DF6-BEB7-50BC5A20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67300"/>
            <a:ext cx="762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B91C1C"/>
                </a:solidFill>
                <a:latin typeface="Hiragino Sans"/>
                <a:ea typeface="Hiragino Sans"/>
                <a:cs typeface="Hiragino Sans"/>
              </a:rPr>
              <a:t>非主張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1FA5DF-F7A0-480F-89C6-A941C19C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10150"/>
            <a:ext cx="4743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変換後の点数一致、1volumeの保存データ、作業メモリ、約2000volumeの処理時間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9ACBB4-219C-4A25-976B-4F5E5B5F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72125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325152-6F2D-4C3C-80CD-4DB8DE5A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04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結論: 500 KB は達成済みの結果ではなく、支援で検証すべき組み込み条件です。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94859B-EDE9-4382-A0E4-5B64C013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112553-0AC6-4572-838B-E0365DD8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paper/sections/02_claim_gates.tex, docs/evidence/manuscript_claim_gate_matrix.md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E70DD4-EEFA-4AD3-B3D0-B03BFF80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21104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D012B8-1CFF-4D86-93B3-E9F5E03D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A35EF-9850-4A81-96BB-FAA17EAE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7D4E2AF-7BF7-414E-9C6C-0D7DD3F7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31281DB-497D-4E46-9B03-035BE2E7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SPONSOR VALUE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CE566-1099-4E96-BDFF-8E2AE77F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6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支援の成果は、導入可否を決められる証拠セットです。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477A23-8449-49D8-AF28-F6676242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809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163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狙いは「AIで守れる」と言い切ることではありません。守れる条件、守れない条件、装置に載る条件を再現可能に切り分けます。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95E91-D026-43EA-BF34-AD97EFF5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336D4A-10B6-43B6-A2F3-05381EBC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479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Phase 1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データは使えるか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BF00C3-32A5-4019-BA92-6EAD5B78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2133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schema・license・split単位を確認し、10秒統計を固定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9D6DD-2FBF-49F7-A608-88011DF5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7185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69C647-6391-48F7-AEE3-FBF710F7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575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24E42-8FE2-436D-AAC1-AF457EF1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24150"/>
            <a:ext cx="27241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CA793-2183-4DEF-AD35-9C489BA9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47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Phase 2</a:t>
            </a:r>
          </a:p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早期警告は有望か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0AF0E-3D65-454C-A349-0C09AF15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57550"/>
            <a:ext cx="238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単純規則・古典的異常検出・小型AEを同じ分け方で比較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68758-E643-4930-BAF6-2C5AAF08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7185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B77EDD-7B8F-4D6C-81B0-EBE0D50F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5849A-8C00-4E00-AA25-CE0E3ED3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29146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4B2F90-9816-4083-9342-873C4D52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47975"/>
            <a:ext cx="2571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Phase 3</a:t>
            </a:r>
          </a:p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装置に載る見込みはあるか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E7713-C4D7-42D3-84DB-6368E006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5755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MNN・500 KB・多数volumeのfeasibility audit。失敗も結論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02B84-CBC6-4544-9F7D-52D461B6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248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5160D-3470-4863-89B3-D6866ADA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91075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社会的意義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68F1F2-14F8-41A6-B08F-F96FB7CC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78155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38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早期に気づける可能性を、病院・行政・企業の停止時間短縮につながる「実装条件付きの証拠」に変える。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590B46-42C2-41E3-AA2E-C7BEC509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16255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EA9A6E-2798-4997-9972-F224E95C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0065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defRPr>
            </a:pPr>
            <a:r>
              <a:rPr sz="863" b="0">
                <a:solidFill>
                  <a:srgbClr val="E5E7EB"/>
                </a:solidFill>
                <a:latin typeface="Hiragino Sans"/>
                <a:ea typeface="Hiragino Sans"/>
                <a:cs typeface="Hiragino Sans"/>
              </a:rPr>
              <a:t>支援で得る判断材料: 続けるべきモデル、諦めるべき仮説、必要な装置カウンタ、実機評価へ進む条件。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40EEAD-BDFC-4F00-88DA-D6EDF163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151F39-60A5-49C2-93EB-ADC4F35F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75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Source: paper/sections/07_evaluation_plan.tex, 08_mnn_implementation_plan.tex, 11_roadmap.tex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75A347-E900-48B7-8875-800F0F54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91275"/>
            <a:ext cx="514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225403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2026-05-05T08:38:36.8360000Z</dcterms:created>
  <dcterms:modified xsi:type="dcterms:W3CDTF">2026-05-05T08:38:36.8360000Z</dcterms:modified>
</coreProperties>
</file>