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de06b864d9347e0" /><Relationship Type="http://schemas.openxmlformats.org/officeDocument/2006/relationships/extended-properties" Target="/docProps/app.xml" Id="R3a59c5adee614c01" /><Relationship Type="http://schemas.openxmlformats.org/officeDocument/2006/relationships/officeDocument" Target="/ppt/presentation.xml" Id="R21c90ff10d63431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1f76ec1908046c6"/>
  </p:sldMasterIdLst>
  <p:notesMasterIdLst>
    <p:notesMasterId xmlns:r="http://schemas.openxmlformats.org/officeDocument/2006/relationships" r:id="Rccf1c3bf8cfe40ee"/>
  </p:notesMasterIdLst>
  <p:sldIdLst>
    <p:sldId xmlns:r="http://schemas.openxmlformats.org/officeDocument/2006/relationships" id="256" r:id="Rad1d8e7fccd44047"/>
    <p:sldId xmlns:r="http://schemas.openxmlformats.org/officeDocument/2006/relationships" id="257" r:id="Rc3d60302887545e6"/>
    <p:sldId xmlns:r="http://schemas.openxmlformats.org/officeDocument/2006/relationships" id="258" r:id="R1ac545b17d954bd5"/>
    <p:sldId xmlns:r="http://schemas.openxmlformats.org/officeDocument/2006/relationships" id="259" r:id="R8f04462b006344c8"/>
    <p:sldId xmlns:r="http://schemas.openxmlformats.org/officeDocument/2006/relationships" id="260" r:id="R6b13ed40b6b4441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f76ec1908046c6" /><Relationship Type="http://schemas.openxmlformats.org/officeDocument/2006/relationships/theme" Target="/ppt/theme/theme1.xml" Id="R4b324c066a4e4fbb" /><Relationship Type="http://schemas.openxmlformats.org/officeDocument/2006/relationships/notesMaster" Target="/ppt/notesMasters/notesMaster1.xml" Id="Rccf1c3bf8cfe40ee" /><Relationship Type="http://schemas.openxmlformats.org/officeDocument/2006/relationships/presProps" Target="/ppt/presProps.xml" Id="R8526723e0c154a50" /><Relationship Type="http://schemas.openxmlformats.org/officeDocument/2006/relationships/viewProps" Target="/ppt/viewProps.xml" Id="R51797c0143ef4f4a" /><Relationship Type="http://schemas.openxmlformats.org/officeDocument/2006/relationships/tableStyles" Target="/ppt/tableStyles.xml" Id="Rc59f22fb58674e27" /><Relationship Type="http://schemas.openxmlformats.org/officeDocument/2006/relationships/slide" Target="/ppt/slides/slide1.xml" Id="Rad1d8e7fccd44047" /><Relationship Type="http://schemas.openxmlformats.org/officeDocument/2006/relationships/slide" Target="/ppt/slides/slide2.xml" Id="Rc3d60302887545e6" /><Relationship Type="http://schemas.openxmlformats.org/officeDocument/2006/relationships/slide" Target="/ppt/slides/slide3.xml" Id="R1ac545b17d954bd5" /><Relationship Type="http://schemas.openxmlformats.org/officeDocument/2006/relationships/slide" Target="/ppt/slides/slide4.xml" Id="R8f04462b006344c8" /><Relationship Type="http://schemas.openxmlformats.org/officeDocument/2006/relationships/slide" Target="/ppt/slides/slide5.xml" Id="R6b13ed40b6b4441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3df004583577449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aa3f3cef7244e41" /><Relationship Type="http://schemas.openxmlformats.org/officeDocument/2006/relationships/notesMaster" Target="/ppt/notesMasters/notesMaster1.xml" Id="Reb3f35b348cc4e3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0f4b987d6b24669" /><Relationship Type="http://schemas.openxmlformats.org/officeDocument/2006/relationships/notesMaster" Target="/ppt/notesMasters/notesMaster1.xml" Id="Rd543dda80cef4f5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a094e88df80490e" /><Relationship Type="http://schemas.openxmlformats.org/officeDocument/2006/relationships/notesMaster" Target="/ppt/notesMasters/notesMaster1.xml" Id="R1cf28983177a4c9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7c33113b7294864" /><Relationship Type="http://schemas.openxmlformats.org/officeDocument/2006/relationships/notesMaster" Target="/ppt/notesMasters/notesMaster1.xml" Id="Rd5db522b95044ec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6718935a9fb4ec5" /><Relationship Type="http://schemas.openxmlformats.org/officeDocument/2006/relationships/notesMaster" Target="/ppt/notesMasters/notesMaster1.xml" Id="Ra8e51eabc850476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8cfbde740c4766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b5f23c6dccdc4899" /><Relationship Type="http://schemas.openxmlformats.org/officeDocument/2006/relationships/slideLayout" Target="/ppt/slideLayouts/slideLayout2.xml" Id="Rc39fd4bc8c42439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39fd4bc8c42439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65ad2c9fea6478d" /><Relationship Type="http://schemas.openxmlformats.org/officeDocument/2006/relationships/notesSlide" Target="/ppt/notesSlides/notesSlide1.xml" Id="R3c3e11bbb89a402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a25f353fd074f5e" /><Relationship Type="http://schemas.openxmlformats.org/officeDocument/2006/relationships/notesSlide" Target="/ppt/notesSlides/notesSlide2.xml" Id="R7d0b5471165c4c5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2bd49f57ca74035" /><Relationship Type="http://schemas.openxmlformats.org/officeDocument/2006/relationships/notesSlide" Target="/ppt/notesSlides/notesSlide3.xml" Id="R77eb7fa9537e4b5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58cb4ee69124b60" /><Relationship Type="http://schemas.openxmlformats.org/officeDocument/2006/relationships/notesSlide" Target="/ppt/notesSlides/notesSlide4.xml" Id="R15e8d2fa33194b4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aa9103321574856" /><Relationship Type="http://schemas.openxmlformats.org/officeDocument/2006/relationships/notesSlide" Target="/ppt/notesSlides/notesSlide5.xml" Id="R21682874c9d344f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EB5C441-8DAE-4E02-9DE8-EA337472C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0DF5B6-4BE5-4E46-AD40-1124612D3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326C0FA3-D1D2-42A4-8C5A-980C26566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89185034-D1EE-42F9-9463-4A6C8DADE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9100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1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RESEARCH FRAME | 観測境界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539C39-4444-490F-B670-649A7202A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19150"/>
            <a:ext cx="6000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2400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rPr>
              <a:t>ストレージから見える情報は少ない。だから検証する価値がある。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E84EF8-54EE-4B96-94C9-B5CDBE66D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0"/>
            <a:ext cx="590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ホスト側のプロセス名・ファイル名・内容は使わず、装置が受け取る read/write の時系列だけで異常を見られるかを調べます。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5BC643-AC80-426F-ABB8-6F98AF9F0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0"/>
            <a:ext cx="5810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1500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rPr>
              <a:t>狙いは「万能なAI」ではなく、最後に近い観測点で早期警告の余地が残るかを、条件付きで確かめることです。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056401-2859-4456-AB1E-03642B842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990600"/>
            <a:ext cx="4438650" cy="394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34F410-F6E0-414D-9E2E-9BA6862D9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238250"/>
            <a:ext cx="2476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研究で使う観測境界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1A68F5-AC5C-4245-B69D-FD0C0C69C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790700"/>
            <a:ext cx="16954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B91C1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E4B204-6D1A-4A86-89DB-59BEBF7FA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14525"/>
            <a:ext cx="1390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91C1C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B91C1C"/>
                </a:solidFill>
                <a:latin typeface="Hiragino Sans"/>
                <a:ea typeface="Hiragino Sans"/>
                <a:cs typeface="Hiragino Sans"/>
              </a:rPr>
              <a:t>ホスト側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BABAFF-0C1A-45AC-A704-2BCC6499C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305050"/>
            <a:ext cx="13906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プロセス名・ファイル名・内容は使わない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FA3B9E-5C50-4AAC-A9DF-33C899AB0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34315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EDF19D-1FA4-4C76-BBDF-6CCE59D0C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22885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BD5E1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CBD5E1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46C0C6-9451-422D-94EC-2B81226B5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790700"/>
            <a:ext cx="15049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3B4DA5-2096-4185-ACF8-1DCF7AA9D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1914525"/>
            <a:ext cx="1200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ブロックI/O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422AA8-6AD4-491C-AB15-F7DA5173E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305050"/>
            <a:ext cx="12001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時刻 / read-write / LBA / 転送長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3C0A96-306A-44DA-B3F9-56D59D1CF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2895600"/>
            <a:ext cx="19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153CF2-3B5D-497A-8CFC-C087F1644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3105150"/>
            <a:ext cx="19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CBD5E1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CBD5E1"/>
                </a:solidFill>
                <a:latin typeface="Menlo"/>
                <a:ea typeface="Menlo"/>
                <a:cs typeface="Menlo"/>
              </a:rPr>
              <a:t>v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05166C-42D4-49AE-9FAD-8080406E3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524250"/>
            <a:ext cx="3048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F48D7E-58FB-4F1A-8219-E628D3C95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752850"/>
            <a:ext cx="2552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10秒統計 + AE候補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9DE90E-03EA-4659-9CDA-819A9B46E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57650"/>
            <a:ext cx="2552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E5E7EB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E5E7EB"/>
                </a:solidFill>
                <a:latin typeface="Hiragino Sans"/>
                <a:ea typeface="Hiragino Sans"/>
                <a:cs typeface="Hiragino Sans"/>
              </a:rPr>
              <a:t>正常時系列とのズレを評価する研究プロトコル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96F9431-0699-4CC4-AFE6-86A08BF7E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29200"/>
            <a:ext cx="2857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61DD8F8-897B-4BF2-8CB3-CE498C169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91100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少ない情報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590CA9-2CFB-4558-99B8-6F3CCFA8D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314950"/>
            <a:ext cx="1695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ホスト文脈に依存しない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B112043-5B32-4DA4-AA09-1C4EE99F6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029200"/>
            <a:ext cx="2857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64B6DC-F5FE-4C5C-B76C-EF2943670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4991100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安い特徴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1281110-DA57-476D-81D4-F9618DC19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5314950"/>
            <a:ext cx="1695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10秒ごとの集約だけ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DB6B143-0B2B-43AC-8BE2-5B51CADA6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029200"/>
            <a:ext cx="2857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02E39A5-2328-4735-BBEC-F079C6823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991100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まだ非主張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07C5EB9-732E-49C0-9EA2-2EEFD059F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314950"/>
            <a:ext cx="1695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性能・適合はこれから測る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1717FFA-CC26-4590-9642-6D3AE1C52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EC8EA3B-C537-4326-8B52-8AED214AB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9850"/>
            <a:ext cx="866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7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Source: paper/sections/01_introduction.tex, 03_observation_threat_model.tex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FF29DD3-2CD6-49CB-87B8-063574E6C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91275"/>
            <a:ext cx="514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55894509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AA7695D-0630-4808-BCAD-DC2D94A5B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C1483B-F58C-4FBD-B806-2F6586827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11501FE4-8AFF-4D6C-95FB-CCF0DA697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ED1A2497-9D21-4C3D-9C84-F3FCAB8DC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9100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1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METHOD | 10秒統計とAE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DD321B-E87D-47F3-B0FD-DCB6FF1D4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19150"/>
            <a:ext cx="8763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2550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rPr>
              <a:t>中身を読まず、10秒統計を“戻せるか”でズレを見る。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0A9504-0A24-4940-96F5-CA84A6985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62100"/>
            <a:ext cx="781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11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AEは入力と同じ形を再構成するだけにし、しきい値やalert判定はモデルの外で扱います。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0CA5B5-2692-4444-B1C7-54FDE2679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81250"/>
            <a:ext cx="21907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B7496C-537A-41B5-8BBE-923C89443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05075"/>
            <a:ext cx="1885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1. I/Oを集約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FBF135-5B46-4CFA-A6F3-E4A7508E1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95600"/>
            <a:ext cx="18859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read/write数、bytes、write比率、平均LBA、平均長など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239086-9F00-4210-9BA5-48035DD36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971800"/>
            <a:ext cx="5048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AB7746-E979-4B12-A4B0-3A155FF9E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85750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BD5E1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CBD5E1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B40A3F-2D05-48CC-81FD-E689CA6B9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381250"/>
            <a:ext cx="22669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0283EE-6592-4565-9F16-011657944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505075"/>
            <a:ext cx="1962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2. 10秒フレーム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FF393B-7A21-488B-BBAA-DB0DC0603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895600"/>
            <a:ext cx="1962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固定幅D=12。使えないoptional欄はmaskで除外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C0AC7F-DE12-44FF-A57D-B63862B4A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971800"/>
            <a:ext cx="47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DE338D-29BE-4AD9-AD06-FF16EA4E2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5750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BD5E1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CBD5E1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256CF9-9AE0-488E-80E2-7E0C053B1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381250"/>
            <a:ext cx="20764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9452F1-9181-46C1-9CBC-7EEB78684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505075"/>
            <a:ext cx="1771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3. 時系列入力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001C4D-B892-4992-BA30-B9D5C672C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895600"/>
            <a:ext cx="1771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N個を束ねる。N=12なら約2分の文脈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C10325-BD30-4CF4-B450-03DEBB71F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971800"/>
            <a:ext cx="47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6DACE9-7548-4D28-A203-FD6C0A223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85750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BD5E1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CBD5E1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776A52A-21C0-49C8-9CF3-C3F868F86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381250"/>
            <a:ext cx="18669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01F132C-29D8-4E98-AF95-A608E28D0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505075"/>
            <a:ext cx="1562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D28D9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6D28D9"/>
                </a:solidFill>
                <a:latin typeface="Hiragino Sans"/>
                <a:ea typeface="Hiragino Sans"/>
                <a:cs typeface="Hiragino Sans"/>
              </a:rPr>
              <a:t>4. AE再構成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D6010D0-85A6-4758-89D8-25921F024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895600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XからX-hatを返し、誤差scoreを外で計算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86D5B5-E5E8-49B7-9861-8DF98750C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67200"/>
            <a:ext cx="4953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BDDC3EF-DA93-402B-92A9-F4EBA8935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476750"/>
            <a:ext cx="133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採用する入力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7581A22-3F6D-4E66-A281-1423F77B1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448175"/>
            <a:ext cx="2952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E5E7EB"/>
                </a:solidFill>
                <a:latin typeface="Hiragino Sans"/>
                <a:ea typeface="Hiragino Sans"/>
                <a:cs typeface="Hiragino Sans"/>
              </a:defRPr>
            </a:pPr>
            <a:r>
              <a:rPr sz="938" b="0">
                <a:solidFill>
                  <a:srgbClr val="E5E7EB"/>
                </a:solidFill>
                <a:latin typeface="Hiragino Sans"/>
                <a:ea typeface="Hiragino Sans"/>
                <a:cs typeface="Hiragino Sans"/>
              </a:rPr>
              <a:t>装置が安く出せるscalar統計。raw eventやpayloadは保持しない。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F36A62-5AFB-4721-AFF1-2E6A66888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781550"/>
            <a:ext cx="1257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0C32E2D-A372-41F3-B7C8-9F2B9C7D2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800600"/>
            <a:ext cx="1104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content scanなし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8C18727-F2BE-4158-9C95-8A8EED13B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781550"/>
            <a:ext cx="1104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5E1CA2A-9DFA-4ADA-9AEE-7AFC3BAD2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800600"/>
            <a:ext cx="95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signatureなし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4DEC468-6F65-4C83-975E-A9E2C03BA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267200"/>
            <a:ext cx="4286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331EA34-4F12-4EBD-9BCA-59B695FFF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4767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rPr>
              <a:t>注意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DAA4D4B-5FBA-434F-9185-FD7E2F285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438650"/>
            <a:ext cx="3048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23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write entropy等は、安い装置カウンタがある場合だけoptional。検出性能はまだ非主張。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52EDAEB-2A99-45B6-AB0E-5842EA140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28241AE-1737-4205-9908-076342B0E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9850"/>
            <a:ext cx="866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7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Source: paper/sections/05_input_contract.tex, 06_autoencoder_candidates.tex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13397F4-6431-48D8-A241-21F089858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91275"/>
            <a:ext cx="514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99339214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2FCAAAE-73B8-41BB-A8A3-C4B036C46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6E1AE0-9A85-4A3D-A45B-2B81C46DB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3293E6F9-9230-423E-A5D7-142D43C9A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27178395-E070-439F-B404-951D9A1BB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9100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1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MODEL LADDER | AE-01..05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D45C1B-0A67-4D0B-B070-DDFB8BE50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10096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2475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rPr>
              <a:t>AE-01..05は、性能順位ではなく“必要な複雑さ”を調べる梯子です。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E0F6E3-F318-4D74-A952-3DC693694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24000"/>
            <a:ext cx="8572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発表用に5候補へ整理しています。各候補は、単純な統計だけで足りるのか、時系列演算が必要なのかを切り分けます。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FC3A57-38E9-4BBE-9ACF-E11E2ECDE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33600"/>
            <a:ext cx="10839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D81E1E-7665-486A-AEE2-F2C141854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38375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ID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541E9C-62FF-4573-B648-38C3A005F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238375"/>
            <a:ext cx="2000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概要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D6E915-D6D9-40A8-9A45-835F3EED0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238375"/>
            <a:ext cx="41433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評価する目的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75B645-4FA5-4C72-99BB-F91606723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2238375"/>
            <a:ext cx="25241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論文内ID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BF428B-905F-4C88-B5EF-6B4D0503B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33650"/>
            <a:ext cx="108394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F8B083-7C4F-4B19-B660-FCF6D7441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05100"/>
            <a:ext cx="838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D28D9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D28D9"/>
                </a:solidFill>
                <a:latin typeface="Menlo"/>
                <a:ea typeface="Menlo"/>
                <a:cs typeface="Menlo"/>
              </a:rPr>
              <a:t>AE-01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285CA4-4851-4939-9E06-1F765B4C9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705100"/>
            <a:ext cx="1981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Flat MLP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2C45A9-9EC9-454C-84F6-C83B9A1A6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647950"/>
            <a:ext cx="406717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32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832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まず最小Denseで、粗い10秒統計だけに検出信号があるかを見る。容量不足なら幅を増やす。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5C069A-E919-4D22-A107-6DB523697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2705100"/>
            <a:ext cx="24479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938" b="0">
                <a:solidFill>
                  <a:srgbClr val="64748B"/>
                </a:solidFill>
                <a:latin typeface="Menlo"/>
                <a:ea typeface="Menlo"/>
                <a:cs typeface="Menlo"/>
              </a:rPr>
              <a:t>AE-0 / AE-1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091592-2846-43B0-BB51-08E5C4F0D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62300"/>
            <a:ext cx="108394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B5E2DC-C0D4-454F-A87C-B4EE2F0A6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33750"/>
            <a:ext cx="838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D28D9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D28D9"/>
                </a:solidFill>
                <a:latin typeface="Menlo"/>
                <a:ea typeface="Menlo"/>
                <a:cs typeface="Menlo"/>
              </a:rPr>
              <a:t>AE-02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6E13F6-BDE2-4605-AFA7-5E4C2481F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333750"/>
            <a:ext cx="1981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Two-level Dense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1F2CED-2A1A-49DB-B12A-D6E33F0BF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276600"/>
            <a:ext cx="406717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32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832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各10秒frameを共有Denseでcode化し、時間演算なしでsequence全体を圧縮できるかを見る。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E55DF5-02FD-4ECC-ABF3-54F902C95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3333750"/>
            <a:ext cx="24479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938" b="0">
                <a:solidFill>
                  <a:srgbClr val="64748B"/>
                </a:solidFill>
                <a:latin typeface="Menlo"/>
                <a:ea typeface="Menlo"/>
                <a:cs typeface="Menlo"/>
              </a:rPr>
              <a:t>AE-2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80C7082-98C9-4048-9B50-4E9510794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90950"/>
            <a:ext cx="108394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D6B81B-3DDA-4F65-89F3-F0E5857DC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62400"/>
            <a:ext cx="838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D28D9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D28D9"/>
                </a:solidFill>
                <a:latin typeface="Menlo"/>
                <a:ea typeface="Menlo"/>
                <a:cs typeface="Menlo"/>
              </a:rPr>
              <a:t>AE-03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F4C99C3-5BF3-40D6-9DC3-AF1B65DFF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962400"/>
            <a:ext cx="1981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GRU context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F7998BE-2544-4BA0-8E4B-06F59E795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905250"/>
            <a:ext cx="406717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32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832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frame順序や過去文脈が効くかを測る、最小recurrent候補。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FCE1558-EF77-4DFD-8D75-1CA0B0B06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3962400"/>
            <a:ext cx="24479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938" b="0">
                <a:solidFill>
                  <a:srgbClr val="64748B"/>
                </a:solidFill>
                <a:latin typeface="Menlo"/>
                <a:ea typeface="Menlo"/>
                <a:cs typeface="Menlo"/>
              </a:rPr>
              <a:t>AE-3a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DC4427C-0CF1-4BB2-8F41-AACB472F1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19600"/>
            <a:ext cx="108394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DCC458E-AB5B-455B-B788-5F199E10C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91050"/>
            <a:ext cx="838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D28D9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D28D9"/>
                </a:solidFill>
                <a:latin typeface="Menlo"/>
                <a:ea typeface="Menlo"/>
                <a:cs typeface="Menlo"/>
              </a:rPr>
              <a:t>AE-04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CDA1422-C3DE-441B-A9A5-8785233E2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591050"/>
            <a:ext cx="1981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Temporal Conv1D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4DA3784-F053-4F36-A601-8A2CDDFC3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533900"/>
            <a:ext cx="406717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32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832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GRUなしで、隣接frameの短い局所変化だけで足りるかを見る。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8D2A9BA-C9FA-4A16-9D49-4A3FD673E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4591050"/>
            <a:ext cx="24479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938" b="0">
                <a:solidFill>
                  <a:srgbClr val="64748B"/>
                </a:solidFill>
                <a:latin typeface="Menlo"/>
                <a:ea typeface="Menlo"/>
                <a:cs typeface="Menlo"/>
              </a:rPr>
              <a:t>AE-4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5992ABB-FE18-4355-82E8-047E4AB7C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048250"/>
            <a:ext cx="108394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53E0B81-7BA0-4495-B3D7-097148EA1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9700"/>
            <a:ext cx="838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D28D9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D28D9"/>
                </a:solidFill>
                <a:latin typeface="Menlo"/>
                <a:ea typeface="Menlo"/>
                <a:cs typeface="Menlo"/>
              </a:rPr>
              <a:t>AE-05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1A3FD07-CBDD-4787-A68C-D8BDA112F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219700"/>
            <a:ext cx="1981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Tiny CNN-GRU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3F96B49-FC0B-4AEA-BB1F-1F30DBFF0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5162550"/>
            <a:ext cx="406717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32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832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K=1 Convで同一frame内特徴を混ぜ、GRUで文脈を見る複合仮説。単純候補後に試す。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BE17F0B-3E8B-4060-81D2-9AC764F4A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5219700"/>
            <a:ext cx="24479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938" b="0">
                <a:solidFill>
                  <a:srgbClr val="64748B"/>
                </a:solidFill>
                <a:latin typeface="Menlo"/>
                <a:ea typeface="Menlo"/>
                <a:cs typeface="Menlo"/>
              </a:rPr>
              <a:t>AE-5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D4ED72D-830C-4CAF-8BB2-A7CB9D6CE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72150"/>
            <a:ext cx="266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D3D7635-19B8-4CD2-81EF-6DFA605CB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864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38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読み方: AE-05が“良い”という意味ではありません。単純候補で足りるなら、複雑なモデルは採用しません。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2E52ECA-26AA-4D86-897F-17843E413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810250"/>
            <a:ext cx="219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B91C1C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40C184F-FE48-41E8-ABDB-46AA5EFD6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5829300"/>
            <a:ext cx="2038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B91C1C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B91C1C"/>
                </a:solidFill>
                <a:latin typeface="Hiragino Sans"/>
                <a:ea typeface="Hiragino Sans"/>
                <a:cs typeface="Hiragino Sans"/>
              </a:rPr>
              <a:t>計画上の候補。実測性能ではない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0D0AD7F-7FB7-4446-8F5C-FEAA07F42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CE10A96-1510-4894-95C9-FCFCB3F99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9850"/>
            <a:ext cx="866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7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Source: docs/06_memory_aware_ae_candidates.md, paper/sections/06_autoencoder_candidates.tex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7FB8BA0-C8CE-4F9F-A24C-E0D139B5B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91275"/>
            <a:ext cx="514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1947785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C747907-C424-47C3-BAA1-1A4990268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286DEB-7905-4418-BF23-7AF314F35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1910889E-AB15-4940-B35B-9BED2E1DC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D3FE54EA-E2EC-4BE0-9080-D1B75DCE5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9100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1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EVALUATION | 何を判定するか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77D8BD-3351-4900-B013-1A27A0021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19150"/>
            <a:ext cx="8858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2550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rPr>
              <a:t>評価の焦点は、AEが本当に必要かを確かめることです。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DE0C73-1B82-46B6-835C-F14F91862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71625"/>
            <a:ext cx="8001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11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単純なwrite規則や古典的異常検出に負けるなら、AEを主役にしない。それも重要な結論です。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395A89-0990-4BD7-8BB9-51C870412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22669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3791D6-64A4-40FF-BD49-D63A68B99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05075"/>
            <a:ext cx="1962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benignだけで学習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27D43F-56F7-4F45-95CD-DABC5D794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95600"/>
            <a:ext cx="1962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AEのtraining / calibrationに攻撃labelを使わない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0AFA86-A6FE-41D5-81A5-507F64E7B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971800"/>
            <a:ext cx="438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84F484-A4D2-48F9-A6C8-88E58D1E6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85750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BD5E1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CBD5E1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2F1CF0-4D89-4B5D-A0EB-870D104DF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81250"/>
            <a:ext cx="24193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307BD2-4A27-486A-903C-8D43C3306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505075"/>
            <a:ext cx="2114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baselineと比較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B1749F-926A-4F8A-A948-78C88D4A5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895600"/>
            <a:ext cx="21145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write比率、bytes、LBA/長さshift、Isolation Forest等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B8A85C-C42F-412C-B9E7-5649ABC4E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971800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F082C7-4B23-445D-85C9-08A3B13EF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85750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BD5E1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CBD5E1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CA97AB-FFBC-4EE9-8AF9-2330682F4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381250"/>
            <a:ext cx="23241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9F2CBC-C424-468B-9B41-383390E87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05075"/>
            <a:ext cx="2019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D28D9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6D28D9"/>
                </a:solidFill>
                <a:latin typeface="Hiragino Sans"/>
                <a:ea typeface="Hiragino Sans"/>
                <a:cs typeface="Hiragino Sans"/>
              </a:rPr>
              <a:t>AE-01..05比較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179424-F4BC-4D43-BB7A-B396884BD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895600"/>
            <a:ext cx="2019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追加operatorの価値とdevice costを切り分ける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1DCF29-7C91-4E67-8F13-F7D4CFDFE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971800"/>
            <a:ext cx="285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247741B-A883-48E2-868C-171305121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85750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BD5E1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CBD5E1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27EF77-DA29-46C9-BE4A-A288D4A84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381250"/>
            <a:ext cx="15621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B8752CF-F05F-4463-B0EC-A0191387F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2505075"/>
            <a:ext cx="1257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defRPr>
            </a:pPr>
            <a:r>
              <a:rPr sz="1013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rPr>
              <a:t>採否を判断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6F6D5AB-0F0B-49DD-8985-B5488DD21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2895600"/>
            <a:ext cx="1257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7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低false alarm、早期性、MNN parity、500KB制約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250FA90-8476-435C-BBBC-E07CC10C2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48150"/>
            <a:ext cx="48958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41F253D-F25E-421A-9FEF-509676EA0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438650"/>
            <a:ext cx="114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主要指標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1978E0-1F28-48B9-B610-59A04C6B5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781550"/>
            <a:ext cx="2000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8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848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false alarms / volume / day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F14C726-0A8A-4FFC-BE97-A86EEB7D3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781550"/>
            <a:ext cx="2000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8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848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time to detect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517D275-21D9-4D27-BDC4-96BF6ABDE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105400"/>
            <a:ext cx="2000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8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848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alert前の被害量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F9CB868-88BE-4289-87E9-A5BC2D371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105400"/>
            <a:ext cx="2000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8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848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channel-wise error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42CFEEE-122D-4DD1-A6B8-3387D4364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248150"/>
            <a:ext cx="48958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2DBB869-5D41-4FA6-BE02-70FCBB974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438650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必須アブレーション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9F565D4-9E51-45B1-9C57-03D857727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781550"/>
            <a:ext cx="1200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11182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CFF6E22-A746-4FC5-87BD-5B60B1B16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80060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entropyなし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F09EADB-593F-4EBB-9F74-FA9759591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781550"/>
            <a:ext cx="1200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11182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19B661B-1A8E-40D5-B5D7-C40EC6DD1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80060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LBAなし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EE76907-C91A-4852-BA98-F7AC0E59C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781550"/>
            <a:ext cx="1200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11182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197B2F4-0257-40A9-9BDD-CEDA311B9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80060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lengthなし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F6CF5DC-3CE0-457B-8FF1-A0EED54A6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124450"/>
            <a:ext cx="1200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11182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C3A4EDE-4FC0-4A02-B303-A42F42678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514350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N=6/12/24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4563818-BAF0-4AB6-9B90-434897280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124450"/>
            <a:ext cx="1200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111827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3E67CE4-2622-4BEF-8712-633226EE6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14350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MNN変換後score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8B57ACC-3F70-40EC-8224-F90ED2E0E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561975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B91C1C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7311D6F-1375-4739-8DCD-F3626CCB6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638800"/>
            <a:ext cx="1276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B91C1C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B91C1C"/>
                </a:solidFill>
                <a:latin typeface="Hiragino Sans"/>
                <a:ea typeface="Hiragino Sans"/>
                <a:cs typeface="Hiragino Sans"/>
              </a:rPr>
              <a:t>性能値は未確定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E158A68-B1C9-4603-A90A-C4D8FBBC9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500BE16-F9CD-4CDA-B1F9-BDE8D222A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9850"/>
            <a:ext cx="866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7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Source: paper/sections/07_evaluation_plan.tex, 08_mnn_implementation_plan.tex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6B5D649-E36A-43CE-A577-87B2EAA76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91275"/>
            <a:ext cx="514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61157705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0A170B3-A2FF-4DD5-9F6F-FFFD2FD67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B19260-A713-4FF1-8DCB-811968FC4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2F4ADEC9-169E-4FAF-867E-D1409D701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4E055727-D118-4354-87AE-383473A11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9100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1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STATUS | 現在の到達点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B330B0-FF7B-4E8A-8C94-DB9120A13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19150"/>
            <a:ext cx="9334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2550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rPr>
              <a:t>現在の成果は、成功条件と失敗条件を分けて測れる設計です。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CA4DFC-2CE6-43BC-AC76-8899EB598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8382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11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この資料の結論は、導入約束ではありません。次に何を測れば研究判断できるかを固定した、という位置づけです。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ADD86B-C323-4A04-9C3F-50753010F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10572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3D6B3B-2535-4771-AFF6-A202E6299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52700"/>
            <a:ext cx="152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固定済み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0F2D6C-6322-4DB6-BB67-2C3626F13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1175" y="2552700"/>
            <a:ext cx="1714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まだ測るもの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C69FBA-AEC6-4A8C-B0CD-7EB378D7A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4572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2957D7-8D68-473D-8A07-7EABFB224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385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23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観測境界: block I/O metadata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BBA5C1-A252-47D3-B782-6881CF1E7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76650"/>
            <a:ext cx="4572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A29122-8BAC-4AD9-8905-3744AD4A4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719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23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10秒統計の固定入力契約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5468FF-26AE-4EC0-807C-E3D71D44F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4572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F7E99B-A0D7-4E47-AE46-757A2D8C6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053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23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AE-01..05候補と役割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8B4569-ACE1-41E9-97DF-EA747D9CD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43450"/>
            <a:ext cx="4572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01D5B7-D634-4A43-B57A-D88DC9BC4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387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23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baseline / ablation / claim gate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E4B6AE-3C27-4D1D-A025-4032A55B7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1175" y="3143250"/>
            <a:ext cx="5667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66351D-0331-424F-915A-FF0D87930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238500"/>
            <a:ext cx="38576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23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RanSAP/RanSMAP source audit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45EE2F-2B2D-474C-8B63-64B831408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181350"/>
            <a:ext cx="819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E568D8-96C9-49CF-B5E1-F575B0B2B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3200400"/>
            <a:ext cx="666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rPr>
              <a:t>候補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FD2E29-436A-4FA4-89A9-1F4D99641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1175" y="3676650"/>
            <a:ext cx="5667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3119E5C-27C6-484E-9D08-10487D65A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771900"/>
            <a:ext cx="38576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23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低false alarmでの検出可否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A38AA31-54AE-4098-B6F0-C20A04CEC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714750"/>
            <a:ext cx="819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B91C1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DB4EB5D-0102-46D8-A4E2-E48FE43F8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3733800"/>
            <a:ext cx="666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B91C1C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B91C1C"/>
                </a:solidFill>
                <a:latin typeface="Hiragino Sans"/>
                <a:ea typeface="Hiragino Sans"/>
                <a:cs typeface="Hiragino Sans"/>
              </a:rPr>
              <a:t>非主張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D08AAD9-26C7-4F54-B72B-A31BDF47A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1175" y="4210050"/>
            <a:ext cx="5667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453F24D-E15E-4DA5-B76A-361C528A1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305300"/>
            <a:ext cx="38576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23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entropyなしで残る信号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3CD32D0-F7B9-49CD-A9A9-97F1C332B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248150"/>
            <a:ext cx="819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B91C1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C57F9CA-9BC6-4722-BA95-CF9CF0F56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4267200"/>
            <a:ext cx="666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B91C1C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B91C1C"/>
                </a:solidFill>
                <a:latin typeface="Hiragino Sans"/>
                <a:ea typeface="Hiragino Sans"/>
                <a:cs typeface="Hiragino Sans"/>
              </a:rPr>
              <a:t>非主張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AF143C5-1392-47E9-A480-D9D76729E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1175" y="4743450"/>
            <a:ext cx="5667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6156CFA-42B8-40B2-8A21-5311B4726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838700"/>
            <a:ext cx="38576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23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MNN parityと500KB/device-fit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FE06E74-76BB-4F5F-857A-FBE9D5476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781550"/>
            <a:ext cx="819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B91C1C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156918-9812-40F1-8478-1708E06A3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4800600"/>
            <a:ext cx="666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B91C1C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B91C1C"/>
                </a:solidFill>
                <a:latin typeface="Hiragino Sans"/>
                <a:ea typeface="Hiragino Sans"/>
                <a:cs typeface="Hiragino Sans"/>
              </a:rPr>
              <a:t>非主張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A66A6FE-4A55-4379-9320-3D518EC94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72125"/>
            <a:ext cx="10382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ED7C5BE-18C5-498F-A106-C4C1251CC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676900"/>
            <a:ext cx="933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次の判断: 単純規則で足りるか、どのAEまで必要か、装置制約を満たす見込みがあるか。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BBB6D1A-9BCE-4BE4-B34D-95A06079B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6A02B86-B2D6-4C83-AD9E-79FADE5FD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9850"/>
            <a:ext cx="866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7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Source: docs/evidence/manuscript_claim_gate_matrix.md, paper/sections/11_roadmap.tex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81D6A36-5112-4C5F-83AC-3E830FBD6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91275"/>
            <a:ext cx="514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91832085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2026-05-05T09:29:53.3540000Z</dcterms:created>
  <dcterms:modified xsi:type="dcterms:W3CDTF">2026-05-05T09:29:53.3540000Z</dcterms:modified>
</coreProperties>
</file>