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b81f5a8b6f406c" /><Relationship Type="http://schemas.openxmlformats.org/officeDocument/2006/relationships/extended-properties" Target="/docProps/app.xml" Id="Rc22922120cd34f5f" /><Relationship Type="http://schemas.openxmlformats.org/officeDocument/2006/relationships/officeDocument" Target="/ppt/presentation.xml" Id="R389ad91e21644f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91896af4b64c27"/>
  </p:sldMasterIdLst>
  <p:notesMasterIdLst>
    <p:notesMasterId xmlns:r="http://schemas.openxmlformats.org/officeDocument/2006/relationships" r:id="R24debe337f8f40ae"/>
  </p:notesMasterIdLst>
  <p:sldIdLst>
    <p:sldId xmlns:r="http://schemas.openxmlformats.org/officeDocument/2006/relationships" id="256" r:id="R5e42a85df4584026"/>
    <p:sldId xmlns:r="http://schemas.openxmlformats.org/officeDocument/2006/relationships" id="257" r:id="R69a3def6125249fe"/>
    <p:sldId xmlns:r="http://schemas.openxmlformats.org/officeDocument/2006/relationships" id="258" r:id="R0dc85a83df684185"/>
    <p:sldId xmlns:r="http://schemas.openxmlformats.org/officeDocument/2006/relationships" id="259" r:id="R240eec863076448d"/>
    <p:sldId xmlns:r="http://schemas.openxmlformats.org/officeDocument/2006/relationships" id="260" r:id="R8a3965f28c1c4c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1896af4b64c27" /><Relationship Type="http://schemas.openxmlformats.org/officeDocument/2006/relationships/theme" Target="/ppt/theme/theme1.xml" Id="R9ae74966da064c7e" /><Relationship Type="http://schemas.openxmlformats.org/officeDocument/2006/relationships/notesMaster" Target="/ppt/notesMasters/notesMaster1.xml" Id="R24debe337f8f40ae" /><Relationship Type="http://schemas.openxmlformats.org/officeDocument/2006/relationships/presProps" Target="/ppt/presProps.xml" Id="Rcd53068e60984574" /><Relationship Type="http://schemas.openxmlformats.org/officeDocument/2006/relationships/viewProps" Target="/ppt/viewProps.xml" Id="R22b327cbeab74aa6" /><Relationship Type="http://schemas.openxmlformats.org/officeDocument/2006/relationships/tableStyles" Target="/ppt/tableStyles.xml" Id="R4dbd26146cef435c" /><Relationship Type="http://schemas.openxmlformats.org/officeDocument/2006/relationships/slide" Target="/ppt/slides/slide1.xml" Id="R5e42a85df4584026" /><Relationship Type="http://schemas.openxmlformats.org/officeDocument/2006/relationships/slide" Target="/ppt/slides/slide2.xml" Id="R69a3def6125249fe" /><Relationship Type="http://schemas.openxmlformats.org/officeDocument/2006/relationships/slide" Target="/ppt/slides/slide3.xml" Id="R0dc85a83df684185" /><Relationship Type="http://schemas.openxmlformats.org/officeDocument/2006/relationships/slide" Target="/ppt/slides/slide4.xml" Id="R240eec863076448d" /><Relationship Type="http://schemas.openxmlformats.org/officeDocument/2006/relationships/slide" Target="/ppt/slides/slide5.xml" Id="R8a3965f28c1c4c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5b3e2be7e7246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b28d4cc6bd49c2" /><Relationship Type="http://schemas.openxmlformats.org/officeDocument/2006/relationships/notesMaster" Target="/ppt/notesMasters/notesMaster1.xml" Id="R3d6c7139b64d4b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39bfaeb4134bda" /><Relationship Type="http://schemas.openxmlformats.org/officeDocument/2006/relationships/notesMaster" Target="/ppt/notesMasters/notesMaster1.xml" Id="Rb0065e5d401e45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08782484d542cd" /><Relationship Type="http://schemas.openxmlformats.org/officeDocument/2006/relationships/notesMaster" Target="/ppt/notesMasters/notesMaster1.xml" Id="R0f62a91b150d40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3b0910290846ab" /><Relationship Type="http://schemas.openxmlformats.org/officeDocument/2006/relationships/notesMaster" Target="/ppt/notesMasters/notesMaster1.xml" Id="Rfddff0b60e6a44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16b4189bc84e75" /><Relationship Type="http://schemas.openxmlformats.org/officeDocument/2006/relationships/notesMaster" Target="/ppt/notesMasters/notesMaster1.xml" Id="R7d57c284f6a64a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b45ff68cb54b2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cbfe25999ab4226" /><Relationship Type="http://schemas.openxmlformats.org/officeDocument/2006/relationships/slideLayout" Target="/ppt/slideLayouts/slideLayout2.xml" Id="R5a772447ec5043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772447ec5043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2dfd8d1fff4d76" /><Relationship Type="http://schemas.openxmlformats.org/officeDocument/2006/relationships/notesSlide" Target="/ppt/notesSlides/notesSlide1.xml" Id="R9ff2bf628bdb49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41a58f6864a54" /><Relationship Type="http://schemas.openxmlformats.org/officeDocument/2006/relationships/notesSlide" Target="/ppt/notesSlides/notesSlide2.xml" Id="Rcbcd1f155f4945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9534af26a14a58" /><Relationship Type="http://schemas.openxmlformats.org/officeDocument/2006/relationships/notesSlide" Target="/ppt/notesSlides/notesSlide3.xml" Id="Rd7a2da6a7da640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be30a1dad54a8d" /><Relationship Type="http://schemas.openxmlformats.org/officeDocument/2006/relationships/notesSlide" Target="/ppt/notesSlides/notesSlide4.xml" Id="R16e62e799afc42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9dcb00376d4994" /><Relationship Type="http://schemas.openxmlformats.org/officeDocument/2006/relationships/notesSlide" Target="/ppt/notesSlides/notesSlide5.xml" Id="R70fd1db8125142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6FFA25-8416-45DC-9D71-3CE72599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7085A-BA83-43EA-A8FA-C271E65C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1AEF705-65F3-443E-83A1-2F6F4354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1878492-09DB-48DD-A604-6F5D441A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SPONSOR BRIEF | 研究内容紹介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830CB-E3E2-422C-BAB9-E5552393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6096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8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ホストが倒れても、ストレージには最後の信号が残る。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C160C-F43B-45DA-9694-2A7A4E21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71675"/>
            <a:ext cx="561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ランサムウェアがプロセス名やファイル名を隠しても、永続データへ届く read/write の時系列は装置側で観測できます。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E7467-A9CE-49E6-AA23-A9289E1F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542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この研究は、社会インフラ・医療・企業活動の停止を短くするために、ストレージ装置内で早く気づく方法を検証します。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E32C65-43B3-4E51-BCD7-E0B47C18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838200"/>
            <a:ext cx="46863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62BCA0-CAA7-46D8-83A8-CD3A4061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1239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最後の防衛線としての観測点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93D2C-0770-4AF2-B9FA-03FE27DB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76400"/>
            <a:ext cx="1600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56E30-1E52-4B2A-83DB-9866CACE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0225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侵害されたホスト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D1B6E2-293B-4EF5-AB2A-8492A9FB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098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OS・プロセス・ファイル名は信用しきれない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1DEFF-8897-44A1-A051-12A4305F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76400"/>
            <a:ext cx="1695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4D745-89F2-46C3-9F24-CF49692C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00225"/>
            <a:ext cx="1352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ブロックI/O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4B2682-67B8-4B8F-B16D-EB4A1C64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0980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read/write、LBA、転送長、時刻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2EC4AE-A941-417A-865D-D07E2820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95500"/>
            <a:ext cx="22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01507-0435-4A7D-A74A-46A61D0E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19450"/>
            <a:ext cx="3676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0CEEE-80BB-4C6D-B212-DE7B5D43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48050"/>
            <a:ext cx="3219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ストレージ装置内の小型検出器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1D63B9-3680-4BDE-AE7E-AB01CCA7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100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10秒統計から、正常時系列とのズレを評価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165D41-53A6-484E-A52A-F34C2BDC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003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72650-3E32-4FD5-B5CE-F04CE69C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028950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BD5E1"/>
                </a:solidFill>
                <a:latin typeface="Menlo"/>
                <a:ea typeface="Menlo"/>
                <a:cs typeface="Menlo"/>
              </a:rPr>
              <a:t>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C250AB-9F78-465D-BF7F-40A27BC6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411E7C-E9C1-4F7E-A8E2-711F9922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情報は少ない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087AC1-4BCF-4CD4-8985-DB33A74A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だからホストに依存しない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BE75CF-D9A4-44ED-9701-AAD07002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D97257-ADDE-472B-B2DB-33F53E64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特徴は安い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0C0FB5-89A0-41DB-B541-05F20620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10秒統計へ集約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F4E79F-BEB7-4B42-9002-A0B774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009239-CC34-4B33-92D9-88AC4C93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証拠で判断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1EBBE7-8439-4440-AA01-E36C6ED0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性能・適合は未主張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94789-FD44-4F4C-90DD-93D4FA5C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02952-01D2-4647-91EB-F4B005A9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paper/sections/01_introduction.tex, 03_observation_threat_model.tex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4CBE3C-2580-4F9B-B28D-E65FA59D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942936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C29B16-8046-48A0-BFF6-F5E5E005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DF626-4BB6-4E4B-A16A-B7D6FA4D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B248E8D-AAA1-41FD-BBB2-7A8A2F9A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153D5DF-A94E-4833-810E-C06EC6E0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OBSERVATION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D2B1F-B06A-4A6C-AD08-DC0B5AA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中身を読まず、10秒ごとの安い統計だけで異常を見ます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A8F43-31C8-4462-BF1E-BEA9AFA0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重いペイロード走査やファイル名ではなく、装置がすでに扱うメタデータを固定幅の時系列にします。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C741A-26A9-41B9-B4BE-8340BC25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416E0-0F37-4B64-B074-9ED24750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I/Oイベント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AA9C5-C0DF-4068-8709-05AFD7F6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時刻 / read-write / LBA / 転送長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4FE1E-A3F5-4D34-A77A-E91FDAF4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8610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3636E-327B-49C5-B62C-3F8DC19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C45F8-24A0-45DA-AB8C-47C209EA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33650"/>
            <a:ext cx="2171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AADF8-70A2-4B96-A9FF-C54DAE72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57475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10秒フレーム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64B06-C92B-46E3-8D28-151A3C9B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count・bytes・write ratio・平均LBA・平均長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DD8563-BA52-4A49-91F7-11AC8A9B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86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646AB-A336-473E-82DE-A32ABC98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16764C-079E-4D80-A017-8202C0BC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336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1EC29-B995-4A3C-A0C0-40681105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N個を束ねる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2399E3-A154-4BA1-8ACD-74748634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N x 10秒の文脈。初期候補は N=12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E51E24-BD71-41B4-BD92-910525EE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86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935709-4568-4ABF-8914-FBB2E4E4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2EC82-A1B6-4F74-830E-23F6A343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2076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EA7336-658C-4CAA-B3B9-96C9535B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57475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固定D=12入力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A075B-796C-425F-AE2D-92AA08CF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6705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optional slot と padding は mask で扱う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C60140-FD85-4C7A-9549-F665F105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10706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C8A7A-E2EA-41C9-8054-23C957FE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4342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あえて使わないもの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ACD49E-4FD9-4553-A0A8-FDD70124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5961E6-E898-49F3-8A2F-6E2ACBAE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ファイル名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C5F686-49D5-42CE-909C-DF5A8322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4B700D-266A-426D-8C3E-7D200DFA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プロセス名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737FC4-26D0-4236-9C92-695392C5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4D6E5B-376C-4581-881A-8B1F9C51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署名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BF2113-7DB0-4FAB-85D1-99074A5A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A44AF9-9843-4DFE-98C8-A172AD17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ファイル内容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C2A1A0-FCBC-479A-BF4D-91DF7B86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86E605-39AC-47C9-8656-557B8597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重いentropy計算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E05F35-838D-40EB-BF30-54ECC594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95850"/>
            <a:ext cx="733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除外する理由: ストレージ装置単体では見えない、またはコストが高く、組み込み主張を弱くするため。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8DB3A5-8EA4-42D6-A8F0-BA256645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FBBCD7-6D59-4628-B2E5-30732085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圧縮率・entropy相当信号は、装置側に安い既存カウンタがある場合だけ optional として評価します。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E4B7A0-ABF7-4D42-9345-E5DE8461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8EE652-EA5C-4E8C-90B0-F30660FF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paper/sections/03_observation_threat_model.tex, 05_input_contract.tex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7DA00-2C68-4650-8588-F831CA7F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777406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9718EA-8083-4E1A-A52C-3C5275EC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F681B-413E-42BF-9F72-E20EE09C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43F5712-F9C4-4981-8127-B61C2891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A34C003-823F-4FEA-8D3E-E5DC55DE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DETECTOR HYPOTHESIS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04E71-B4D3-4BF1-949A-FE73A33E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AutoEncoderは、正常な書き込みリズムからのズレを探します。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CBCC1-4B44-4B52-BF00-69807DF0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既知のランサムウェア名を当てる分類器ではなく、benign だけで学習した正常時系列を再構成できるかを見ます。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F2AF0-8822-4BB4-9E5A-FADDD3D6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5908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1541D-1FE7-46C7-9325-FAC6BF96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66975"/>
            <a:ext cx="2247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1. 正常データだけで学習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69B71-3142-488A-A3CA-C03F823E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247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通常時の10秒統計列を圧縮し、同じ形へ戻す練習をする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9EF7D-771F-4555-A2DF-982F81A1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3982CD-D2D9-4268-9559-16B33096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A9E89-3503-408C-A5C7-ED49B416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43150"/>
            <a:ext cx="2647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63E40-08F2-44B9-919F-A672729E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66975"/>
            <a:ext cx="2305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2. 現在の窓を再構成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B170F-F15C-4FC9-844F-969343E3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76550"/>
            <a:ext cx="2305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入力 X と復元 X-hat を比較。score はMNN外で計算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51C0C-597A-4E83-952A-B72F11A0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ACED8-1A8B-4E6A-9398-D6BE397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38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93E40-6297-47D9-9622-D30B7F41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2724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01156F-05D3-43AD-8B20-809C59E0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66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3. ズレの大きい窓を候補化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8B8C4E-C80B-442F-8932-8944DD39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7655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どの統計が外れたかも管理者に返す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6D45D-8D15-4337-9480-15C22A22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4953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D363B5-3DDE-4F28-904A-1A9ECA02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正常時は再構成誤差が小さい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3434AB-2402-438E-8CEB-3919F7A2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22139-BEC3-4B58-BC38-4D40EC96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6D35A7-11E9-42C6-BEE9-F50B3CE3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14900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1DE021-EC46-4C3F-8FF1-3ABDD8D6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bytes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59C78-6735-41C5-B9A6-6D1ED02B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10125"/>
            <a:ext cx="3238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B77F13-87BD-4DDE-A203-869B4D39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230714-1F53-4177-8A49-D1B71610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67275"/>
            <a:ext cx="3238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AADD86-BA87-4EEA-9403-A1BF7591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LBA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D73C6B-BB09-4F47-AA44-42EB8F76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DB11B0-F3BF-4D19-B40B-D2903AC8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6EB01F-CC9C-40CF-A5BA-A42F39C1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895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B137B8-A607-4C2C-8072-37E3D28A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delta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72A01D-CEA7-49AF-A7F6-BCB7EDBF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625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CC892E-67A0-495A-A547-47BAB223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71950"/>
            <a:ext cx="4953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5F8672-243D-4BA8-AE5A-31F2E8C0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624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攻撃らしい窓は一部チャネルが跳ねる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F99A65-FB36-4955-AA82-D52D3A3B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38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C74331-A0F7-4092-9F5B-FC3BF410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78C33A-8A78-4434-8C93-023FB55A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629150"/>
            <a:ext cx="323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86447F-B862-488F-96F9-F4F262BD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bytes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3B65A4-EE38-4382-A9D8-8BE28F0B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91050"/>
            <a:ext cx="323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C2BBED-FC7B-44AD-AA3E-AE4A3A4E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F70B78-F390-4524-ADA5-A6B96339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05350"/>
            <a:ext cx="323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1AF5CF-0B74-46D0-BA58-77F96CB0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LBA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0E68E6-030E-4B5C-AD62-16E2E05F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76800"/>
            <a:ext cx="32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6C9C19-9A77-455F-B2B0-170AFC9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len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1E2F66-B093-4448-88EC-7B8AAB55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667250"/>
            <a:ext cx="323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97642-2EE4-48B6-AC39-AD7F13FB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delta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42165D-B4B2-47D7-A4CE-9FA8ABD5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625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57CCE5-1F63-4B9F-BCB2-BEA04DE2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676900"/>
            <a:ext cx="16383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AB1CAD-67A3-4502-AD00-323D876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695950"/>
            <a:ext cx="14859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性能値はまだ非主張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BC689D9-6F26-4B6B-AFCB-116318D6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3C7F36-65A0-4D3B-B9A2-9CF27873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paper/sections/00_abstract.tex, 06_autoencoder_candidates.tex, 07_evaluation_plan.tex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571C05-EC01-4097-A348-E392D082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099172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6BE0A6-7D45-4F37-9D55-9D5974FE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BA6A9-21B4-417D-9DFD-2EAF1C49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CD745AE-AC73-425A-B423-E9C54D57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70427C6-75A9-4E38-B91D-B1BAF7C0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EVIDENCE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9FE66-7335-4430-B5B7-1E85CA38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成功を急がず、失敗条件まで測ることがこの研究の価値です。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370ED-778E-4C21-9CD9-E4BE8FA2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819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スポンサー向けにも、ここは誇張しません。現時点で言えるのは「検証プロトコルが固定された」ことです。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8A3DF-2846-4549-BCD3-FB5EAE20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DD1DA-8177-40DF-B25B-D1C43679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主張クラス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2C28D-8227-4EF9-A531-7BF026A7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955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現在の扱い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5E7D0-C621-419F-86DA-3BCAD2B7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95550"/>
            <a:ext cx="466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信頼できる主張にする条件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D8A68-07F6-40FF-AB6C-E2E2D9D4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D54EDF-AB93-4DB7-9A05-77F53820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データセット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F801D2-4EAD-4730-85E5-21C353A6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4800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559FAE-274A-4845-981C-A26C58F7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6705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候補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7930F-BD61-4A6C-8A91-0989FBE5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0990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schema・license・run単位・split可能性を source audit で確認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8FB1A-F299-4A23-B7C6-69F6BEC9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CF188-EF2C-46C9-B752-EB616438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検出性能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4A1BC-28B7-4438-8171-AE4FF8BE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646DF-31C8-41FD-BF5A-CDCEFAA1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BB64E-1BA3-4A13-9A3A-3B7C0A83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67665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manifest付き実験、固定split、seed、metrics、verdict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656741-BF9F-46C9-A00A-0A797CD0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F6D72A-F1A6-478C-8A1F-FEA2554C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9102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低false alarm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B418E-83C9-41CD-B1D2-9A0891CC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8150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7535ED-757D-4123-B2A3-11F9BB9A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0055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499566-41B1-4B8F-947D-943193C0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4340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benign workload holdout と false alarms per volume per day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9D3276-16BC-4525-8CD3-80590153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931587-33E8-4E36-AF85-9C548C45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5777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MNN / 500 KB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A4C2E-1055-471F-B8BD-63678E5C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4825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DCC480-FA27-4568-8290-2DCEFC45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6730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0A32A7-941E-4202-8C75-9B319593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1015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変換、score parity、detector-data、scratch、2000 volume級CPU/メモリ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BA86B-E7E9-49F1-9056-3E2B41A5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6AE70B-A7A4-4D9E-8244-28983A4C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04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結論: 500 KB は達成済みの結果ではなく、支援で検証すべき組み込み条件です。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28E256-D1D5-411A-B2F2-69352E85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5C1E70-179B-432D-9A67-2AD588CE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paper/sections/02_claim_gates.tex, docs/evidence/manuscript_claim_gate_matrix.md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4344B4-E3CD-4007-A377-7EE25362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443628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9D3164-7D0C-4044-9DF3-A38F93DD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C8BC4-35AD-4EF5-BC55-DFE6F6AC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1FA04E1-8875-43A5-94D0-19A746D5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721E27A-DE09-4DFD-8EC7-E8EBB401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SPONSOR VALUE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AB755-0838-4112-86A6-E962C639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支援の成果は、導入可否を決められる証拠セットです。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3389A-8E4F-4646-98BB-6FDE4A26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狙いは「AIで守れる」と言い切ることではありません。守れる条件、守れない条件、装置に載る条件を再現可能に切り分けます。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969AD-B7D0-40CA-85A7-27B3D96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96018-2E01-4775-904A-53C940A7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479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Phase 1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データ監査と抽出器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190D-6309-4C5E-AC55-7AFC37F1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2133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RanSAP/RanSMAP のschemaとlicenseを確認し、10秒統計を固定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C0CF74-EA45-4F1D-A920-13F8A3F6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718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12E5C-C123-4617-B2E3-2BC708B1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57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101C9-DA64-4049-B163-ADACC327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24150"/>
            <a:ext cx="2724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AEB0D-22D0-4839-97F4-C11E47F3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47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Phase 2</a:t>
            </a:r>
          </a:p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baselineとAE比較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A5185F-3552-4676-8D70-616185C0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575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単純write/entropy規則、古典的異常検出、小型AEを同じsplitで比較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D8E19-CA30-4C0C-BD77-D96EABD8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718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5D540E-4DE4-48E2-B4E6-4623062F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D67CA8-3614-42D0-9992-CFB9EDD1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29146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2B5A1-425A-4523-B40A-DA286F0B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47975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Phase 3</a:t>
            </a:r>
          </a:p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MNNと多数volume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DD6D2-BEE9-45F0-A777-557C6CFE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 parity、500 KB/volume、scratch、約2000 volumeのCPU/メモリ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22FFE4-D44C-46A2-BB3D-61C77DE0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24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E36831-88D4-4C00-8D68-2C0DD4D1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9107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社会的意義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A72ED1-08ED-479A-A51F-A3FA49BE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78155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38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早期に気づける可能性を、病院・行政・企業の停止時間短縮につながる「実装条件付きの証拠」に変える。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F7051D-C12A-412C-98A1-4EA54062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1625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D7AC36-47F1-4356-BA20-26D54895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0065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支援で得る判断材料: 続けるべきモデル、諦めるべき仮説、必要な装置カウンタ、実機評価へ進む条件。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5DDC4-4078-423F-B175-7C0ECBE2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CE571C-161D-4357-BA50-3EE7839C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08_mnn_implementation_plan.tex, 11_roadmap.tex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94CAB3-C0D3-4F29-9427-0CE56A8D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44508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2026-05-05T08:30:04.2850000Z</dcterms:created>
  <dcterms:modified xsi:type="dcterms:W3CDTF">2026-05-05T08:30:04.2850000Z</dcterms:modified>
</coreProperties>
</file>