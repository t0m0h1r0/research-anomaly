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a81f4824f74e6b" /><Relationship Type="http://schemas.openxmlformats.org/officeDocument/2006/relationships/extended-properties" Target="/docProps/app.xml" Id="Rc4fd82afc0834ab6" /><Relationship Type="http://schemas.openxmlformats.org/officeDocument/2006/relationships/officeDocument" Target="/ppt/presentation.xml" Id="Rdde883a3bd4f41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016d5d90d447e1"/>
  </p:sldMasterIdLst>
  <p:notesMasterIdLst>
    <p:notesMasterId xmlns:r="http://schemas.openxmlformats.org/officeDocument/2006/relationships" r:id="Rbba5c52376814b20"/>
  </p:notesMasterIdLst>
  <p:sldIdLst>
    <p:sldId xmlns:r="http://schemas.openxmlformats.org/officeDocument/2006/relationships" id="256" r:id="R3c71797adda145c4"/>
    <p:sldId xmlns:r="http://schemas.openxmlformats.org/officeDocument/2006/relationships" id="257" r:id="Re978c8396e4f4196"/>
    <p:sldId xmlns:r="http://schemas.openxmlformats.org/officeDocument/2006/relationships" id="258" r:id="Rb72971dec26d4797"/>
    <p:sldId xmlns:r="http://schemas.openxmlformats.org/officeDocument/2006/relationships" id="259" r:id="Re9aa8a6251d84c6d"/>
    <p:sldId xmlns:r="http://schemas.openxmlformats.org/officeDocument/2006/relationships" id="260" r:id="Rca979d294e124b33"/>
    <p:sldId xmlns:r="http://schemas.openxmlformats.org/officeDocument/2006/relationships" id="261" r:id="Rc962a760b1d64d0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016d5d90d447e1" /><Relationship Type="http://schemas.openxmlformats.org/officeDocument/2006/relationships/theme" Target="/ppt/theme/theme1.xml" Id="R61977d1d8e0d4a38" /><Relationship Type="http://schemas.openxmlformats.org/officeDocument/2006/relationships/notesMaster" Target="/ppt/notesMasters/notesMaster1.xml" Id="Rbba5c52376814b20" /><Relationship Type="http://schemas.openxmlformats.org/officeDocument/2006/relationships/presProps" Target="/ppt/presProps.xml" Id="Rc2ba9a8a6fef4f37" /><Relationship Type="http://schemas.openxmlformats.org/officeDocument/2006/relationships/viewProps" Target="/ppt/viewProps.xml" Id="R81f892f67c8844c0" /><Relationship Type="http://schemas.openxmlformats.org/officeDocument/2006/relationships/tableStyles" Target="/ppt/tableStyles.xml" Id="Rbe7ed470876e4012" /><Relationship Type="http://schemas.openxmlformats.org/officeDocument/2006/relationships/slide" Target="/ppt/slides/slide1.xml" Id="R3c71797adda145c4" /><Relationship Type="http://schemas.openxmlformats.org/officeDocument/2006/relationships/slide" Target="/ppt/slides/slide2.xml" Id="Re978c8396e4f4196" /><Relationship Type="http://schemas.openxmlformats.org/officeDocument/2006/relationships/slide" Target="/ppt/slides/slide3.xml" Id="Rb72971dec26d4797" /><Relationship Type="http://schemas.openxmlformats.org/officeDocument/2006/relationships/slide" Target="/ppt/slides/slide4.xml" Id="Re9aa8a6251d84c6d" /><Relationship Type="http://schemas.openxmlformats.org/officeDocument/2006/relationships/slide" Target="/ppt/slides/slide5.xml" Id="Rca979d294e124b33" /><Relationship Type="http://schemas.openxmlformats.org/officeDocument/2006/relationships/slide" Target="/ppt/slides/slide6.xml" Id="Rc962a760b1d64d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1346b7992c14e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e1affb92ed4d40" /><Relationship Type="http://schemas.openxmlformats.org/officeDocument/2006/relationships/notesMaster" Target="/ppt/notesMasters/notesMaster1.xml" Id="Rf016921510f44b9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4119536f0745e9" /><Relationship Type="http://schemas.openxmlformats.org/officeDocument/2006/relationships/notesMaster" Target="/ppt/notesMasters/notesMaster1.xml" Id="R20b5778c202d4c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9a5494dc25435e" /><Relationship Type="http://schemas.openxmlformats.org/officeDocument/2006/relationships/notesMaster" Target="/ppt/notesMasters/notesMaster1.xml" Id="R411b8f6659c54a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89e45e136c4198" /><Relationship Type="http://schemas.openxmlformats.org/officeDocument/2006/relationships/notesMaster" Target="/ppt/notesMasters/notesMaster1.xml" Id="R199da3756b964c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fd8e1394084c0d" /><Relationship Type="http://schemas.openxmlformats.org/officeDocument/2006/relationships/notesMaster" Target="/ppt/notesMasters/notesMaster1.xml" Id="R5d30c6b43cf6436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ebfea19dd44f3d" /><Relationship Type="http://schemas.openxmlformats.org/officeDocument/2006/relationships/notesMaster" Target="/ppt/notesMasters/notesMaster1.xml" Id="R258a9adf3fee45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d8830ee59848b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2b538221bcf4584" /><Relationship Type="http://schemas.openxmlformats.org/officeDocument/2006/relationships/slideLayout" Target="/ppt/slideLayouts/slideLayout2.xml" Id="R71cfd1f298584f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cfd1f298584f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15d999a69d4ded" /><Relationship Type="http://schemas.openxmlformats.org/officeDocument/2006/relationships/notesSlide" Target="/ppt/notesSlides/notesSlide1.xml" Id="R6c2b1a32785b46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739b489c4342e2" /><Relationship Type="http://schemas.openxmlformats.org/officeDocument/2006/relationships/notesSlide" Target="/ppt/notesSlides/notesSlide2.xml" Id="R8ac3676ed9734e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1612b0a55d4ec6" /><Relationship Type="http://schemas.openxmlformats.org/officeDocument/2006/relationships/notesSlide" Target="/ppt/notesSlides/notesSlide3.xml" Id="R02c7d4aea49a4a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8950816828470f" /><Relationship Type="http://schemas.openxmlformats.org/officeDocument/2006/relationships/notesSlide" Target="/ppt/notesSlides/notesSlide4.xml" Id="R1fa8b09bd8ec48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4c4a8194c74b81" /><Relationship Type="http://schemas.openxmlformats.org/officeDocument/2006/relationships/notesSlide" Target="/ppt/notesSlides/notesSlide5.xml" Id="Rbbd1fa11760342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eab1740eb5441b" /><Relationship Type="http://schemas.openxmlformats.org/officeDocument/2006/relationships/notesSlide" Target="/ppt/notesSlides/notesSlide6.xml" Id="R6cb560f765fe46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38E47B-E08E-4480-85C5-E47273DA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01F8D-959B-4B0A-A7BC-D55E42B6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334C50-47C6-4AF9-B912-F29ED87FE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A6B132-7EC3-4449-9F31-92F4EBC3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TECHNICAL SCOPE | ブロックストレージ組み込み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57D77B-3F1C-4C4D-90B9-AC022E15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D5ACE0-F5F5-4F5A-B4C4-A950E421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32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ブロックI/Oだけを観測し、軽いAE候補に絞る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EF9E5-E5A8-4F71-9768-DEA8173E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F4E355-DF87-4CD3-8F87-72304825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CEC8D3-E8F8-40D0-B471-5E4D9898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ホストのプロセス名やファイルパスに頼らず、安い要求メタデータだけをAE候補の入力価値として検証する。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5AB7D3-4EC8-448E-9EFB-32C6CA50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43150"/>
            <a:ext cx="4000500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D9775C-A9A8-4C1E-B6E2-A5159E98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09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9DD300-CD96-44AA-9F95-CF26304C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133850"/>
            <a:ext cx="354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0B0D8-C65A-4F66-B850-FCEEBDEB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CCEEDE-5C5E-48ED-A8EF-FCDD208C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D76BC-EBBB-4D03-B5C8-80D84F881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8FD8B-1FD8-4FE3-B473-6E52670B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3912B8-1ACE-4C59-B21E-A74F4725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BCE7EA-1975-418A-A8B9-80FC89D7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A4BD32-2EF0-4659-B471-EDE35414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2F1AD0-AD90-4095-B30B-3A3FB56B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765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465DC-BFB8-4867-A958-14B398D7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2571750"/>
            <a:ext cx="190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BF3BB-27A2-44A0-9B0D-A6577C1E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562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4D79BF-E369-454B-932F-D1972E24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31813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FB8E20-CA19-4CA6-BFAD-DDF26A37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434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D935A2-3CED-4497-9724-7B0CED56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48225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見るのは装置境界で安く取れる情報だけ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D93947-8618-4A03-9C4A-80539176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FE9EE1-2CF6-4F3A-99FB-94849D1E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Host / VM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E8BA55-0F0C-4446-A928-83FB8D78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アプリやOSの詳細には依存しない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D30CEF-49F3-4530-9EF6-0D90EDBB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FE9A06-2B6E-4EA7-B1C9-88E49DA1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1EB39F-C7E2-4827-80B8-A76910F1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2381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6404AE-4884-413C-9219-973349D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590800"/>
            <a:ext cx="381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D2A592-C50A-49A8-A2EB-DECDB1CA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4320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Block storage controller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69FA1B-8A63-4255-9EA9-4D1999FB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48000"/>
            <a:ext cx="2038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timestamp / read-write / LBA / length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などを受ける境界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85D69C-C7BC-4722-B70E-7921AA30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0040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108A08-CAE8-4388-931D-F6887F96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0956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BFA53A1-002F-42D1-8E88-A0F1F3EF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1809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52992B-8CCD-4816-B502-2FDBEE546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89560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Protected volumes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9CF17F-8A33-4951-A48B-26894104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004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多数volumeを10秒cadenceで見る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B52583-71EB-4A4D-AC87-4FD36C51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4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FFB"/>
          </a:solidFill>
          <a:ln xmlns:a="http://schemas.openxmlformats.org/drawingml/2006/main" w="13335">
            <a:solidFill>
              <a:srgbClr val="22C55E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9704FA-4E87-4950-AB4F-956F9961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38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D2838E-6C9A-478C-A573-5555551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38650"/>
            <a:ext cx="3505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2C55E"/>
                </a:solidFill>
                <a:latin typeface="Hiragino Sans"/>
                <a:ea typeface="Hiragino Sans"/>
                <a:cs typeface="Hiragino Sans"/>
              </a:rPr>
              <a:t>組み込み検知パス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C13B46-EE83-4644-9629-6843F1C6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196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2B6AD5-B5F5-44B3-92E6-84B4570D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685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collector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安いcounter集計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38DE0E-313E-4713-8275-A6D27905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BC36BB-CC39-478E-9D72-3D5038C33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feature ring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N x Dを保持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2FEBE5-F7F0-4669-BCFE-AB05696D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9650"/>
            <a:ext cx="95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5B2A058-6BCB-4B1C-A4EF-A2FFEA07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86325"/>
            <a:ext cx="723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 score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再構成誤差を外側で判定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53CF6A-F1C8-4164-883B-622D542A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82DFDF9-6350-4CFB-B952-B96332CD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FCADDBE-150D-43A7-BC74-1C284950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観測境界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BCB722-7205-466C-B9CB-E1EEB618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2DF0CD8-E111-4845-8620-D2678935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F5B164-9834-41CE-BB82-967EAEE5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検証対象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0DA21E0-8134-4327-AC32-AF1E403D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292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601EFA-F96B-459E-82B5-3BA0F4A7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429250"/>
            <a:ext cx="381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494AF1-5C27-4B67-BD89-3A38DD1B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581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0DAA23D-0F6B-4B81-9998-CB6DA111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ブロック要求メタデータだけ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5BE2130-8D1A-4555-9872-CA1AB9BA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軽いMLかを測る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0BEDF08-FC52-4D1B-A462-21EF2917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674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性能・早期警告は未主張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57DA86-DC8D-42B7-B9FD-37E6BBCA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0340B5-B98C-4426-B803-63629A22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docs/interface/ResearchBrief.md, docs/04_embedded_constraints.md, paper/sections/05_input_contract.tex</a:t>
            </a:r>
          </a:p>
        </p:txBody>
      </p:sp>
    </p:spTree>
    <p:extLst>
      <p:ext uri="{BB962C8B-B14F-4D97-AF65-F5344CB8AC3E}">
        <p14:creationId xmlns:p14="http://schemas.microsoft.com/office/powerpoint/2010/main" val="182767024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1E5E7A-7530-4651-8A6A-8A397273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052E3B-8D3E-4100-902D-C6D1B823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15640-DB1F-49F3-A985-097D330C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470BDF-C7E0-4304-BCA1-6329AD0E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DECISION FRAME | このプレゼンで決めること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FAF71-351F-4EB9-8F52-CB0E5083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EF586-FC09-49E1-B383-478FD1AD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この資料は導入判断ではなく、棄却条件を決める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4893C-94B2-4602-BD32-EAAD7FB9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E397B8-7C39-47FA-9C99-D145DAE1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94EC71-A58E-441D-A1E8-CA4021A8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単純規則、AE候補、装置制約の順に削り、次に測る証拠を明確にするための資料である。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5DA17-D158-4FD1-AD81-37500069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3638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1580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02DF5E-2A93-492F-A754-439BF713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D6CDE-F47D-4568-9B7D-0466ED4D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8375"/>
            <a:ext cx="3352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残す候補より先に、止める条件を固定する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A98EA-388F-43EB-9A23-7F550DF3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AB0F3-A6CA-445F-9487-A6C0950B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9A762-732E-45AD-AD65-7255CEEF3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単純規則で足りるか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C599BF-ABF3-4A6C-9470-8BAC8A3A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write ratio、I/O強度、LBA移動だけで説明できるならAEは縮小または棄却する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93AED-653D-43E6-A85F-055FAFDB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BC08C8-3CA0-4DE1-B780-A0E5C9FC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E06C81-A116-4B35-B74E-C82D8C06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A9B87-E35A-406F-97B3-380BA853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E07FB-0A99-47B9-834A-638F1DE7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AEのどこまで必要か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FE011-A054-4701-99F0-F71AE689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Dense、時系列文脈、局所時間特徴、CNN-GRUを同じ入力で順番に比較する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676859-67BE-4F24-8621-4E49C466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5A023-24F2-448A-BD7C-F2085523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B6FB5E-3976-490F-867F-EA4ED85A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27C426-A6B4-4D35-9B11-A4331209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EFE5AB-F68A-4952-BCBC-1A59BBBC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装置に載るか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54BA3A-0EFA-4771-903F-04FB4CCA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500 KB detector-data、MNN score parity、10秒cadenceのCPU/slotを分けて測る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F4E71F-42F9-4BE1-B2B7-BEAEC46C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467100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56E077-9EDE-48F8-B448-FE7318D7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36232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2B4C7F-F221-44EC-B2B1-EC8B15B28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22669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1C9F1-46D3-4F60-A7E7-DBFD468B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47950"/>
            <a:ext cx="38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F0EBD9-42F8-4BBE-9633-E9661EB2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003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次の証拠は何か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4026BC-B3C8-4A6E-B9F8-202BF79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05150"/>
            <a:ext cx="1924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manifest付き実験、MNN変換、memory harnessのどれが意思決定を進めるかを明確にする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F0C386-ED06-465A-85A9-B6F6B181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04F33F-ED22-4355-8DA2-50C7D958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178FE6-16A1-4AB8-B762-C285F8E1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進める条件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6EF432-B5A2-41C7-AA87-1668A4D1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単純規則を超える説明価値があり、MNN変換後もscoreが一致し、per-volume状態とschedulingが予算内に収まる見込みを測れる。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FA2EB9-827F-4619-8773-80509B50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428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DC262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993ED33-8884-4610-9DB4-A910708E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33950"/>
            <a:ext cx="3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BFBCA6D-50C1-4D9C-BCD9-2EF745E2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86350"/>
            <a:ext cx="394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止める条件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475411-AC5D-49AC-B036-DAE9705D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91150"/>
            <a:ext cx="394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単純規則で十分、cheap featureが不足、MNN parityが崩れる、500 KBまたは10秒cadenceのどちらかを満たせない。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02FE57-FCCC-4768-ADA2-3132972E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36F027-8E11-4B8F-9AF1-1F14155D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docs/03_PROJECT_RULES.md, docs/evidence/manuscript_claim_gate_matrix.md, docs/04_embedded_constraints.md</a:t>
            </a:r>
          </a:p>
        </p:txBody>
      </p:sp>
    </p:spTree>
    <p:extLst>
      <p:ext uri="{BB962C8B-B14F-4D97-AF65-F5344CB8AC3E}">
        <p14:creationId xmlns:p14="http://schemas.microsoft.com/office/powerpoint/2010/main" val="144044605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718FB0-A05C-49A3-B3F9-BCAA9571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61EC0F-26CA-46BB-BB69-5605005C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1A78B-E68F-4BCA-BB1C-F0CC7DF3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61E4D-973C-45EE-8029-B0B8010A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INPUT CONTRACT | 10秒統計からML入力へ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3A325-18AB-4C95-9D56-8445D5BF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449F7-2381-4C3C-B26F-0CFFC655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入力はrawログではなく、10秒統計列に固定する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B4515F-38E4-4C26-A366-FAA7AE29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5B5B2-5254-4F3C-B261-7E8F72BA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DFDB75-9DFD-4B0A-B64B-02BE9830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特徴抽出そのものが装置コストなので、MLへ渡す入力は安い集計から作る固定shapeの列に限定する。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6545BF-8520-40A5-8BA9-9B807B4E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47244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D3F9F9-251C-4459-BB6B-55D177F4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3810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2C142-CA6C-4378-AD1F-3F98603F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frame_10s: 装置が安く集計できる候補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1031B-5742-463F-A201-97E4A110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866FDA-0F0E-48B3-9D4C-E2053E5F5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count / bytes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C92D4D-C7E3-4C25-8D03-B1597075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95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47DCCD-CC71-4B19-A5D8-B7C40899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33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I/O量の強さ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84A314-F03C-49B6-A286-7E05FE15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A863E-1DE0-42E8-86A0-6E05C335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19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write ratio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A6664B-0691-4059-8321-E7FADB0E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81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E6BA78-75DF-4DC3-B086-9D8B89F0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書き込み偏り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DA7687-DD7F-45D0-8728-DA29BF49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02099B-2988-4BFF-825C-45F50F62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LBA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A4A07B-06D3-4158-8714-9A3AF856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467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E346CF-6985-43AF-BE35-511824AC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05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アクセス位置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7BE945-B620-4334-8C6D-EB8E0DF88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4E2322-F550-4384-A657-1D0A3F21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mean length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9C6449-8FC4-4FEE-8199-13B7D998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8D6E3E-CA78-4BE4-AF1C-74C1DC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7909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転送長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F06694-D100-492A-BBE4-D96D4BCA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386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E2F196-2C90-4C69-8550-BC48FD71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delta mean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913B3F-407A-48FC-BBF8-538A7FD96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0386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5257AA-A83D-454B-BA65-E8C22BAB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0767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前窓からの変化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970847-8C18-4B9F-B127-3D65816F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A6BDED-37D6-43F3-8FC2-692C385F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optional telemetry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D3EC4B-15C0-4003-9F4F-6348DB8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2435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DD236F-4B1C-4EDB-8404-C4EAD05C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安い圧縮/entropy風カウンタがある時だけ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66CCBC-F8AE-4E33-8398-AEBFD056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D6DE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5BBC312-9885-4201-BCBC-3D5E9507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48200"/>
            <a:ext cx="1295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padding / mask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643E59-9CFD-4B68-A097-8F742AA8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610100"/>
            <a:ext cx="95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727623-6AA7-4ED4-8CA1-F0F4A5D8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48200"/>
            <a:ext cx="224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未提供欄はloss/scoreから外す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DACAC1-255F-4B52-93A9-7564A916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76500"/>
            <a:ext cx="26098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DA3DC25-4247-4DD7-B672-B2DB15BA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22669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X: [batch=1, N, D]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initial: N=12, D=12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context: 12 x 10s ~= 2 min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score: outside MNN graph</a:t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threshold: outside MNN graph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363543C-B082-4507-AF13-4CF64F2F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22479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4F99A48-67A8-4C57-8F1D-44077B1E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76500"/>
            <a:ext cx="381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264D6B-DDDD-4E29-9A8E-79E7DA74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なぜ固定shapeか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741681-0205-42A2-AF77-BA9D5189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33700"/>
            <a:ext cx="1905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MNN変換、メモリ、CPU枠を同じ条件で比べるため。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33C198C-B7E3-402B-A06C-2BCF5B31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619750"/>
            <a:ext cx="495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92EE41B-1CE0-4655-9498-96646A48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86425"/>
            <a:ext cx="472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使わない: ファイルパス / プロセス名 / ランサムウェア署名 / ファイル本文scan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F9E547D-9DD6-40EE-A82E-2BFE4CCD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FF4695-1269-4021-8D48-4D5BA8D9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8642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使う: SCSI/NVMe風メタデータ と 安い装置カウンタ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CD544C-0A38-4E3D-96E1-2D629B9B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1AAACB-895F-4533-BB14-E6F5067A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paper/sections/05_input_contract.tex, docs/04_embedded_constraints.md, docs/06_memory_aware_ae_candidates.md</a:t>
            </a:r>
          </a:p>
        </p:txBody>
      </p:sp>
    </p:spTree>
    <p:extLst>
      <p:ext uri="{BB962C8B-B14F-4D97-AF65-F5344CB8AC3E}">
        <p14:creationId xmlns:p14="http://schemas.microsoft.com/office/powerpoint/2010/main" val="83128756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CC4B8-DB47-42F8-A27C-81FCBFCA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DE90E-A757-4C8D-99A9-EC73D366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68861-390A-4C18-B350-51F8B2FF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C5EDE9-F915-4F2F-B290-603DF8CE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MODEL CANDIDATES | AE-01..05 の技術的な意味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CAD8F9-DFA2-46C0-B258-63B84667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2739D-DFE7-4420-846B-633808D3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AE候補は、追加演算が必要かを測る階段である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42A5F-2849-4364-86B2-7114C15E2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38F08-2F3F-4F46-8F57-57D571FE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995C75-D2EA-45B3-A317-01B8063BD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複雑なモデルを採用するためではなく、単純候補で説明できない差分だけを上位候補に渡す。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D9B80-D192-4064-9B40-D6F54C80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0744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1430">
            <a:solidFill>
              <a:srgbClr val="11182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CED5C-C41C-4867-86CB-7CA3656E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05050"/>
            <a:ext cx="647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3A680-6F22-45A7-988D-693ED371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1660D2-DB21-413F-A8DF-07B8768F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2228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949D3-7611-4E43-8231-86DBB433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796144-0D93-4A2F-9E4E-B06B1C31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05050"/>
            <a:ext cx="2800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7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operator 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A84619-D093-4A25-BD64-DF68B1FB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C0FE3-B16E-4CA0-843D-0791494E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05050"/>
            <a:ext cx="14097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planning size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7056B6-ACE5-4554-ABD6-70F95B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28850"/>
            <a:ext cx="95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B5CF4-40BD-4F05-8EE2-B04565E0E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305050"/>
            <a:ext cx="2514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評価する目的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D23C2-B0E5-4128-A546-CB8F15B1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73049B-B460-46A2-A455-6B147A88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AE-01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9FF28B-3CF8-4355-850E-622B5104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6B9960-B75E-4AD4-9494-033E18FE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241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Flat MLP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B1E587-5C18-4623-A1FC-68A696BA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5C68B-4080-4653-9F5D-843A22E2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flattenした2分窓を圧縮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2C9D73-9EDC-42DE-AFDE-61411C4E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DB6318-086C-4235-A138-799A1FE8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9,944-20,768 params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A52624-2850-4201-B81F-9111ECF8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97845D-6893-40F2-B51D-DDEF52B8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7241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粗い統計だけでズレが見えるか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8F0734-AB50-4C1B-84A5-69C3A5E2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984D66-0CAF-43F6-B039-17C84514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6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AE-02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3FC2B7-9114-40B7-9995-B027CC47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072004-CC19-4488-9D29-C77BABBD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766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Two-level Dense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8D1C6E-02D3-45A5-B675-C1F97FD3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4581E8-C953-41DA-A6A0-97B332CE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766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10秒ごとの圧縮 + 系列圧縮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A841A1-0ACD-4ABA-B606-A40A7D0C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10DD05-46E8-4563-B336-6F45E07D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766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5,836 params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E954C2-5EB6-470E-8D3F-A9534E57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00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DB31C9-D05A-49FC-9442-30B56F63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766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時間演算なしで足りるか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BE55BE-11DA-4DD2-8303-0FCA68F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FD0BCD-B02A-48B9-BDCF-6E16066B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AE-03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55D434-1C8A-4F26-82DC-49C0A093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2C10B7-1EAD-4CEF-B664-BBC745BA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290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GRU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C99D6A-0C8F-4F87-8BC6-BC4A22D6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9E80DB2-7444-4865-A54B-A97E58E6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8290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順序と過去文脈を付与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234117-628D-40B1-BB39-EF771BEE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20C1E6-57C8-4408-9873-F9F806B1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290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7,052 params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5AA495-085C-4C0A-B96A-588B144E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52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9FF4EF-5B5B-4432-8DFA-306DE344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290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履歴を見ないと説明できないか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549E8EA-B09E-4FC3-9ACF-DC1F94DA9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34C5E0-375C-47B1-8F7A-5D06D4BD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8150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AE-04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BDEF29-B533-42B2-AF04-25779D61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6864F1-319F-45B6-B697-62C0ADB9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8150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Temporal Conv1D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AD21DFA-8A62-4777-A663-5DEFB89D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CFB598-5488-426A-AD20-3E20CA70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8150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近傍時間の局所変化を抽出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7DCC6FD-0773-4B33-9979-930640FE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C918DA-616C-43E0-9381-06799DCA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38150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5,684 params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5D6BAA-FACA-4FC3-AD73-39CB6757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053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30629A1-42E3-454E-AC06-F4CEF0A8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38150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GRUなしの時間特徴で足りるか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C3D4A26-68A2-40E5-A844-E725B7BB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E79FF7-12FC-439B-89CB-AD27EF6C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647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AE-05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989ECF-F056-47DF-946C-F750215D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38473E-62EF-4D4A-A6A6-3FDFD97D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2228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Tiny CNN-GRU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7299F7-EE07-411C-8DEF-DD9B1C77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3071865-C9D8-49B7-9492-B5ED8E30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33950"/>
            <a:ext cx="2800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Menlo"/>
                <a:ea typeface="Menlo"/>
                <a:cs typeface="Menlo"/>
              </a:defRPr>
            </a:pPr>
            <a:r>
              <a:rPr sz="750" b="0">
                <a:solidFill>
                  <a:srgbClr val="111827"/>
                </a:solidFill>
                <a:latin typeface="Menlo"/>
                <a:ea typeface="Menlo"/>
                <a:cs typeface="Menlo"/>
              </a:rPr>
              <a:t>特徴混合 + 文脈 + bottleneck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421914-64C9-445C-B616-8E473800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0AEAFCD-2DD4-4001-92FF-C6ED49F7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339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8,052 params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0E0566-1BA2-4E58-A378-2F552261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57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5FF3C14-A001-4337-B939-9F0DB47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933950"/>
            <a:ext cx="2514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複合モデルの追加演算に価値があるか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3428028-0B03-421A-A843-C6FDB8B6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7531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38EFAE4-E310-4B11-88E6-FCA1189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19775"/>
            <a:ext cx="3771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選定方針: 簡単な候補で説明できるなら、そこで止める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8900FE8-3D6B-4097-A19F-90A93CCE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753100"/>
            <a:ext cx="4191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66FB8E8-FB51-427A-B8AA-34D1B5BB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819775"/>
            <a:ext cx="396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実測前に性能順位・MNN適合・500KB内に収まった結論を言わない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4F1AB94-398F-4654-B140-2BB7AF86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9754E5-10EB-4F3D-851C-D2D26289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docs/06_memory_aware_ae_candidates.md, paper/sections/06_autoencoder_candidates.tex</a:t>
            </a:r>
          </a:p>
        </p:txBody>
      </p:sp>
    </p:spTree>
    <p:extLst>
      <p:ext uri="{BB962C8B-B14F-4D97-AF65-F5344CB8AC3E}">
        <p14:creationId xmlns:p14="http://schemas.microsoft.com/office/powerpoint/2010/main" val="6129939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427B21-CF8C-4920-BFCE-7931D1B5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C901E-41C9-4852-8070-E3E4000A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D3442-A092-441C-AEDA-490DCC47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B71254-30CA-4E23-9CE8-0A790308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RESOURCE BUDGET | MLに使える資源は小さい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4C64F-13A5-464A-A335-508F9C27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70118-B882-4DDB-BC6C-2DC959BD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175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500KBは、モデルだけでなくvolumeごとの状態まで測る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4D685-8B2C-4878-9645-DAF6CED0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0F0B10-9C6D-4B01-878A-F20356B3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F9E1D7-66DA-4EC3-B23C-843F598A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per-volume detector-dataには重み、入力列、正規化、threshold、score履歴を含め、共有runtimeとは分けて扱う。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F564D-EDC0-4606-BFA8-57A3CDFF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44386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E1297-B943-493B-9373-7CDE5639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38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8CE497-9C01-4BFD-97FE-7F94E437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per-volume detector-data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E4F3D0-6D62-4583-B327-997329FD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099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05CE6-0BA6-4829-A317-0B423F5F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model weights + quant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1A6D5-14BB-4CE2-9AFA-75BB65CB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0099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2CD3D-FB29-4D37-A82F-ADECF53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480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&lt;= 360 KB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51CF0F-174E-436C-B366-23807412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99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1580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E13A6F-9DCE-456C-B925-74A3F53E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480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10s input sequence buffers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838A5-03BF-4EB6-854E-0D0B09BB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099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B5A65B-5767-45BD-8E7D-07FE49D7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480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&lt;= 64 KB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77D4CB-DAA1-4C81-8356-BD98E07F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7C3AE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B2FF06-4EC9-4F55-8E4D-4B25F98B0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481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normalization / threshold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6A686D-552E-4EA6-96F7-CD01A393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8100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2941CC-A002-485C-9BA5-2FC70454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481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&lt;= 24 KB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C5C174-0C35-4E26-9573-5BDE2ACA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100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0891B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1517A0-0D5A-4ACA-9337-21BFF38F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score history / explanation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CF2EC5-A3E8-493F-9527-EA3F2DF4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21005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11CFB-A7F1-4C43-8993-676EF08F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4815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0891B2"/>
                </a:solidFill>
                <a:latin typeface="Hiragino Sans"/>
                <a:ea typeface="Hiragino Sans"/>
                <a:cs typeface="Hiragino Sans"/>
              </a:rPr>
              <a:t>&lt;= 16 KB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A547D4-E583-4BDB-B5A8-FB38E860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1010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2E42A0-9FD3-42E8-B3F7-AB85B7A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495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metadata + margin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F07B46-D979-4588-BE05-E20BF6BF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610100"/>
            <a:ext cx="95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290A44-FA50-492C-A74A-C30D3FF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648200"/>
            <a:ext cx="723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1">
                <a:solidFill>
                  <a:srgbClr val="F97316"/>
                </a:solidFill>
                <a:latin typeface="Hiragino Sans"/>
                <a:ea typeface="Hiragino Sans"/>
                <a:cs typeface="Hiragino Sans"/>
              </a:rPr>
              <a:t>&lt;= 36 KB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491421-35E8-4F65-8EDE-3FEB63BA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0"/>
            <a:ext cx="3524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63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上限目安。実装・MNN変換後の測定で置き換える。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A15208-E6B7-4C78-B686-493E4B96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3EBD7F-56CC-451B-8712-654AA7A2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38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FC790A-E618-4B64-B8BF-3E90D223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aggregate device-fit view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DBB6B3-E647-4F3F-ADE2-71F5E931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57500"/>
            <a:ext cx="44196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M_persistent(V) = M_shared_runtime + M_shared_weights + V x state_per_volume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M_peak(V,Q) = M_persistent(V) + Q x transient_scratch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F9289-F1B8-4E67-929D-2D404A45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E282F6-9523-4FD2-9B79-E59F714C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V ~= 2000</a:t>
            </a:r>
          </a:p>
          <a:p xmlns:a="http://schemas.openxmlformats.org/drawingml/2006/main">
            <a:pPr algn="ctr">
              <a:def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多数volumeを同じ10秒cadenceで守る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05F3CDF-16DC-4E38-8DAC-9CF4EF52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207A309-B985-4348-B4FC-495F84C9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Q slots</a:t>
            </a:r>
          </a:p>
          <a:p xmlns:a="http://schemas.openxmlformats.org/drawingml/2006/main">
            <a:pPr algn="ctr">
              <a:def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同時推論slot数で一時scratchが増える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9F5993-1F6A-4875-B6D5-B48130AE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019550"/>
            <a:ext cx="161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5FFA083-05BC-4C44-98E8-19159464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86225"/>
            <a:ext cx="1390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CPU window</a:t>
            </a:r>
          </a:p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10秒内に全volumeを採点できるか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12DA9F-331D-4C17-B0DF-DA4747AE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D7B20E-9E33-4B72-8301-962DBC35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docs/04_embedded_constraints.md, docs/memo/500kb_budget_reconciliation.md, paper/sections/08_mnn_implementation_plan.tex</a:t>
            </a:r>
          </a:p>
        </p:txBody>
      </p:sp>
    </p:spTree>
    <p:extLst>
      <p:ext uri="{BB962C8B-B14F-4D97-AF65-F5344CB8AC3E}">
        <p14:creationId xmlns:p14="http://schemas.microsoft.com/office/powerpoint/2010/main" val="6634481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055697-AFB9-477A-9C07-DAEBF727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F108A-12BA-4462-B37F-44B88E41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2BCA70-1D79-4408-8F5C-DA62ED17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DECA2-5F27-4AD4-A5AD-C7D27019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475569"/>
                </a:solidFill>
                <a:latin typeface="Hiragino Sans"/>
                <a:ea typeface="Hiragino Sans"/>
                <a:cs typeface="Hiragino Sans"/>
              </a:rPr>
              <a:t>EVALUATION | 技術判断に必要な証拠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0AB30-7224-4724-8B6E-20255037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389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7B980-10F9-4CF0-8845-4CC5672F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10744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defRPr>
            </a:pPr>
            <a:r>
              <a:rPr sz="2250" b="1">
                <a:solidFill>
                  <a:srgbClr val="111827"/>
                </a:solidFill>
                <a:latin typeface="Hiragino Mincho ProN"/>
                <a:ea typeface="Hiragino Mincho ProN"/>
                <a:cs typeface="Hiragino Mincho ProN"/>
              </a:rPr>
              <a:t>次は四つの証拠で、採用・縮小・棄却を判定する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E89FC-72C8-44B4-B9E0-B38F562D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10744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BE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6BF95-9F49-4347-ACA0-D23C7D1C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57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E2F2F-0381-42E9-932C-334B4121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1019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defRPr>
            </a:pPr>
            <a:r>
              <a:rPr sz="938" b="1">
                <a:solidFill>
                  <a:srgbClr val="111827"/>
                </a:solidFill>
                <a:latin typeface="Hiragino Sans"/>
                <a:ea typeface="Hiragino Sans"/>
                <a:cs typeface="Hiragino Sans"/>
              </a:rPr>
              <a:t>主張 | 検出精度だけで採用せず、offline比較、MNN parity、detector-data、10秒cadenceを同じゲートで見る。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A1C8DC-E708-4A40-96CA-8BE4391A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2781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5240">
            <a:solidFill>
              <a:srgbClr val="DC262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48194-5CCD-43AF-AE52-AEEE995F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47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90D5EE-8762-4CD7-919F-4213A9B1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38375"/>
            <a:ext cx="2495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すぐ導入できる、とは言わない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61DF0-0C50-4682-83C0-9983FB54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1333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46988-D1B9-48F1-A2F2-B0AEEDF0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321F5C-7F4C-4E6D-9330-2C646402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1. offline検証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F1B17-66C8-4F00-852B-3C93523B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benign-only学習、単純規則、AE-01..05、低誤警報で比較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39652B-1073-42BE-8C2C-96890126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623497-106B-4E97-9F7F-62717814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A209BF-6793-4D39-AAA0-C5F0B685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1333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C71AF-8C9F-4F69-AFAF-62AEB8F2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6B7954-86A4-4764-958B-83D9BAC6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C3AED"/>
                </a:solidFill>
                <a:latin typeface="Hiragino Sans"/>
                <a:ea typeface="Hiragino Sans"/>
                <a:cs typeface="Hiragino Sans"/>
              </a:rPr>
              <a:t>2. score parity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9B8C2F-74FF-4E43-A0C2-C92B5026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同一入力でoffline scoreとMNN scoreの差を測る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B99BF8-D163-49CE-B0A8-21963069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93A2F8-8000-4DAF-A602-56106F75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665805-AEB5-46A7-8AFD-D3FE89FB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13335">
            <a:solidFill>
              <a:srgbClr val="B4530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E10F81-96A1-48D3-B6D4-EE8877C8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214062-8EAB-4FA3-8209-91AB240A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3. detector-data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2B6DA9-9EBF-419D-BFE7-EA387335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重み、入力列、正規化、threshold、履歴が500 KB内か測る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8EC443-F49F-46FE-A741-ACB5E6DF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19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263A20-CF10-476E-98BF-7998A99F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114675"/>
            <a:ext cx="152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4748B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64748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665343-06F7-4139-AA5F-B5B51269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22479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13335">
            <a:solidFill>
              <a:srgbClr val="15803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AFAF0B-02B3-4A86-AC4D-93B2AAF9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90800"/>
            <a:ext cx="381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051C17-A940-4601-AE9B-BBCF71B2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4. scheduling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BE0DF1-AFD9-4DFF-8374-997389C1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V volumeとQ inference slotで10秒cadenceを守れるか測る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AC0D7C9-9931-4381-BBB6-B02086A3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842D23-9F2D-41A6-9366-E5CBEAA2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79AFD4-90C4-4F55-9E56-05D7D85C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2563EB"/>
                </a:solidFill>
                <a:latin typeface="Hiragino Sans"/>
                <a:ea typeface="Hiragino Sans"/>
                <a:cs typeface="Hiragino Sans"/>
              </a:rPr>
              <a:t>主要な評価値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18AF41-4425-4985-9EB9-C2DD0868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誤警報の少なさ / 警告までの時間 / 警告前の被害量 / どの特徴がズレたか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8A7A107-810D-49AA-A759-40D216D9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4095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8A1550-3D35-42F4-B147-432919398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9580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947116E-7457-46D4-9A8D-4618B3B5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482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制約に当たった時の縮小順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72D0FC-1985-44DB-918D-0B94B935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530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defRPr>
            </a:pPr>
            <a:r>
              <a:rPr sz="788" b="0">
                <a:solidFill>
                  <a:srgbClr val="64748B"/>
                </a:solidFill>
                <a:latin typeface="Hiragino Sans"/>
                <a:ea typeface="Hiragino Sans"/>
                <a:cs typeface="Hiragino Sans"/>
              </a:rPr>
              <a:t>feature数Dを減らす -&gt; 系列長Nを短くする -&gt; hidden sizeを縮める -&gt; AE-05から単純候補へ戻す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74E951B-C661-4619-922D-31813C6B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5310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88E931-E8BE-4654-8C63-061A0368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819775"/>
            <a:ext cx="491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固定済み: block I/O観測境界、10秒統計、AE候補、device-fit gates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5C5720-A921-499E-ABD1-E17D5DA5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7531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5F524C-2D5B-4F7D-B7C9-3AEFCE84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19775"/>
            <a:ext cx="3676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defRPr>
            </a:pPr>
            <a:r>
              <a:rPr sz="713" b="1">
                <a:solidFill>
                  <a:srgbClr val="DC2626"/>
                </a:solidFill>
                <a:latin typeface="Hiragino Sans"/>
                <a:ea typeface="Hiragino Sans"/>
                <a:cs typeface="Hiragino Sans"/>
              </a:rPr>
              <a:t>未主張: 検出性能、MNN readiness、500KB内に収まった結論、実運用早期警告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380019-F214-4181-AB05-DDCD3401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79766-FE3E-4FE1-910F-993B0EB4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57950"/>
            <a:ext cx="933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defRPr>
            </a:pPr>
            <a:r>
              <a:rPr sz="563" b="0">
                <a:solidFill>
                  <a:srgbClr val="7890A8"/>
                </a:solidFill>
                <a:latin typeface="Hiragino Sans"/>
                <a:ea typeface="Hiragino Sans"/>
                <a:cs typeface="Hiragino Sans"/>
              </a:rPr>
              <a:t>Source: paper/sections/07_evaluation_plan.tex, paper/sections/08_mnn_implementation_plan.tex, docs/evidence/manuscript_claim_gate_matrix.md</a:t>
            </a:r>
          </a:p>
        </p:txBody>
      </p:sp>
    </p:spTree>
    <p:extLst>
      <p:ext uri="{BB962C8B-B14F-4D97-AF65-F5344CB8AC3E}">
        <p14:creationId xmlns:p14="http://schemas.microsoft.com/office/powerpoint/2010/main" val="11215550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2026-05-16T22:39:54.7430000Z</dcterms:created>
  <dcterms:modified xsi:type="dcterms:W3CDTF">2026-05-16T22:39:54.7430000Z</dcterms:modified>
</coreProperties>
</file>