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34de220cf44c30" /><Relationship Type="http://schemas.openxmlformats.org/officeDocument/2006/relationships/extended-properties" Target="/docProps/app.xml" Id="Re3f4e2cdbc384dd3" /><Relationship Type="http://schemas.openxmlformats.org/officeDocument/2006/relationships/officeDocument" Target="/ppt/presentation.xml" Id="R83ade6354a3d4a1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a5429989e04617"/>
  </p:sldMasterIdLst>
  <p:notesMasterIdLst>
    <p:notesMasterId xmlns:r="http://schemas.openxmlformats.org/officeDocument/2006/relationships" r:id="R63c90f5951514f82"/>
  </p:notesMasterIdLst>
  <p:sldIdLst>
    <p:sldId xmlns:r="http://schemas.openxmlformats.org/officeDocument/2006/relationships" id="256" r:id="R908d88a1dd3b4890"/>
    <p:sldId xmlns:r="http://schemas.openxmlformats.org/officeDocument/2006/relationships" id="257" r:id="R0d7b8333f2904b07"/>
    <p:sldId xmlns:r="http://schemas.openxmlformats.org/officeDocument/2006/relationships" id="258" r:id="Rcf327c50fed94c2b"/>
    <p:sldId xmlns:r="http://schemas.openxmlformats.org/officeDocument/2006/relationships" id="259" r:id="R5f644d036cac46e8"/>
    <p:sldId xmlns:r="http://schemas.openxmlformats.org/officeDocument/2006/relationships" id="260" r:id="R6f6444dc432c4573"/>
    <p:sldId xmlns:r="http://schemas.openxmlformats.org/officeDocument/2006/relationships" id="261" r:id="Re899cf594dea4cf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a5429989e04617" /><Relationship Type="http://schemas.openxmlformats.org/officeDocument/2006/relationships/theme" Target="/ppt/theme/theme1.xml" Id="R2cfacb3711424d3a" /><Relationship Type="http://schemas.openxmlformats.org/officeDocument/2006/relationships/notesMaster" Target="/ppt/notesMasters/notesMaster1.xml" Id="R63c90f5951514f82" /><Relationship Type="http://schemas.openxmlformats.org/officeDocument/2006/relationships/presProps" Target="/ppt/presProps.xml" Id="R5d6cc9d9f7134156" /><Relationship Type="http://schemas.openxmlformats.org/officeDocument/2006/relationships/viewProps" Target="/ppt/viewProps.xml" Id="R6c2dca45b78e4d7b" /><Relationship Type="http://schemas.openxmlformats.org/officeDocument/2006/relationships/tableStyles" Target="/ppt/tableStyles.xml" Id="R3e83733de5cd4160" /><Relationship Type="http://schemas.openxmlformats.org/officeDocument/2006/relationships/slide" Target="/ppt/slides/slide1.xml" Id="R908d88a1dd3b4890" /><Relationship Type="http://schemas.openxmlformats.org/officeDocument/2006/relationships/slide" Target="/ppt/slides/slide2.xml" Id="R0d7b8333f2904b07" /><Relationship Type="http://schemas.openxmlformats.org/officeDocument/2006/relationships/slide" Target="/ppt/slides/slide3.xml" Id="Rcf327c50fed94c2b" /><Relationship Type="http://schemas.openxmlformats.org/officeDocument/2006/relationships/slide" Target="/ppt/slides/slide4.xml" Id="R5f644d036cac46e8" /><Relationship Type="http://schemas.openxmlformats.org/officeDocument/2006/relationships/slide" Target="/ppt/slides/slide5.xml" Id="R6f6444dc432c4573" /><Relationship Type="http://schemas.openxmlformats.org/officeDocument/2006/relationships/slide" Target="/ppt/slides/slide6.xml" Id="Re899cf594dea4c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95aaa5fd545430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94dc7e768f487d" /><Relationship Type="http://schemas.openxmlformats.org/officeDocument/2006/relationships/notesMaster" Target="/ppt/notesMasters/notesMaster1.xml" Id="Ra0a1fcfa13f14e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b204f8928814c70" /><Relationship Type="http://schemas.openxmlformats.org/officeDocument/2006/relationships/notesMaster" Target="/ppt/notesMasters/notesMaster1.xml" Id="Ra775519a2b1f4a4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130ef548a524507" /><Relationship Type="http://schemas.openxmlformats.org/officeDocument/2006/relationships/notesMaster" Target="/ppt/notesMasters/notesMaster1.xml" Id="R709f09122f904e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d6379cb7626430e" /><Relationship Type="http://schemas.openxmlformats.org/officeDocument/2006/relationships/notesMaster" Target="/ppt/notesMasters/notesMaster1.xml" Id="Rec2cf2f58b3b48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e1b42941594665" /><Relationship Type="http://schemas.openxmlformats.org/officeDocument/2006/relationships/notesMaster" Target="/ppt/notesMasters/notesMaster1.xml" Id="R907a196076e648b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5ad71ec594848b0" /><Relationship Type="http://schemas.openxmlformats.org/officeDocument/2006/relationships/notesMaster" Target="/ppt/notesMasters/notesMaster1.xml" Id="R7a3ede5596cd45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8ee9864aa244e5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9d6c8d9b64c840f9" /><Relationship Type="http://schemas.openxmlformats.org/officeDocument/2006/relationships/slideLayout" Target="/ppt/slideLayouts/slideLayout2.xml" Id="R6e954dae45284c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954dae45284c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999a6d8a514065" /><Relationship Type="http://schemas.openxmlformats.org/officeDocument/2006/relationships/notesSlide" Target="/ppt/notesSlides/notesSlide1.xml" Id="Rf052ffcd437f42c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4594cb92214c68" /><Relationship Type="http://schemas.openxmlformats.org/officeDocument/2006/relationships/notesSlide" Target="/ppt/notesSlides/notesSlide2.xml" Id="R8ae8e4ef5f574ab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6ded2305b24495" /><Relationship Type="http://schemas.openxmlformats.org/officeDocument/2006/relationships/notesSlide" Target="/ppt/notesSlides/notesSlide3.xml" Id="R914a3c9e8f5d4b0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699f5bd6e34dd6" /><Relationship Type="http://schemas.openxmlformats.org/officeDocument/2006/relationships/notesSlide" Target="/ppt/notesSlides/notesSlide4.xml" Id="R54bff810c88f4d6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fc934126b44e92" /><Relationship Type="http://schemas.openxmlformats.org/officeDocument/2006/relationships/notesSlide" Target="/ppt/notesSlides/notesSlide5.xml" Id="Rfca616162fa9495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d368b6b0d94327" /><Relationship Type="http://schemas.openxmlformats.org/officeDocument/2006/relationships/notesSlide" Target="/ppt/notesSlides/notesSlide6.xml" Id="R158abaf684534d2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226215-32CC-433B-9E9F-1A39AC5DA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CCD30A-05D2-4302-A394-6524FBA6E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F3A356-A05E-46C7-BDCE-309565D54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12C3CF-66F3-41A5-AB68-EF3EB3E2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TECHNICAL SCOPE | ブロックストレージ組み込み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C6C725-5518-4940-9DC5-6EEB6F92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7925B2-6A70-41B2-8AA7-A980B3143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2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ブロックI/Oだけで、異常検知の入力を作れるかを測る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8857AE-14F5-4967-839E-9D4329945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10744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BE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D44E73-CFE3-4A28-97D1-1492E48C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0A1066-290C-4E2C-897C-8F6C31FA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1019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主張 | ファイルパスやプロセス名を使わず、要求時刻・read/write・LBA・lengthから10秒統計を作る。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7D8C54-7FAE-4B9D-B86F-B100CC93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43150"/>
            <a:ext cx="400050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1EEFBF-7AA3-495A-BFE7-3FCB5D45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09850"/>
            <a:ext cx="354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2AAB60-62C4-4017-8073-F120173D9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133850"/>
            <a:ext cx="354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44E384-9AFD-41B7-BAA7-BB91F366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71750"/>
            <a:ext cx="190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F316A9-AD11-4DBC-99B4-5B674F72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562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E7D7C0-7846-46F9-97F2-EF3E33357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571750"/>
            <a:ext cx="190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B107D3-CDC4-43BE-AD9A-3D0EA1373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76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A638DE-5271-4309-840B-0F7DF17E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71750"/>
            <a:ext cx="190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86B6D7-5D4E-42C8-AD2E-7357FE702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562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8C1CB0-F138-462C-8922-CFDB3652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2571750"/>
            <a:ext cx="190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636E23-E80C-4ABE-94AB-24E3BF3B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076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20C7CA-9BCF-4AE8-8F19-858FC224B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571750"/>
            <a:ext cx="190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993683-A185-4A45-B469-F811D6901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562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B549F0-DDDD-4869-A98A-E611F313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743450"/>
            <a:ext cx="3181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5240">
            <a:solidFill>
              <a:srgbClr val="2563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2411CA-A0FC-4C70-A7B6-9C89DEB8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743450"/>
            <a:ext cx="47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ED037-DD99-4F75-B12E-77FF72798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848225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観測は装置境界で取れる軽量メタデータだけ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CA17B0-3290-49FF-A861-27896FE79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43200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DA1E66-FA68-4577-B3B0-99CA2ACC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Host / VM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5CF6BB-CECB-48EC-A481-02EB0380B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00400"/>
            <a:ext cx="1466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アプリ/OS詳細に依存しない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C906A9-70B2-4CD7-983F-6EE7FB21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20040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61C876-BDEB-4080-B703-8AEDEE54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09562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0AC1B5-0B8D-4661-B571-B88A34E9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590800"/>
            <a:ext cx="2381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6E3D9B-FA8E-482E-830A-70C2A945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590800"/>
            <a:ext cx="381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5011D33-A7E0-4F73-8254-545321056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4320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Block storage controller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E3DA3E-C9EE-4F66-BACF-FA3988AA2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048000"/>
            <a:ext cx="2038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timestamp / read-write / LBA / length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を受ける境界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3A335BE-1B70-4729-86E5-2E588E5F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0040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51D9FBF-C913-4465-8AF0-42CC83ED5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09562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AFD633B-7CBC-4ED9-A4C0-4987EDF3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43200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D8FAB6D-887A-40CF-8621-3E1B84BA5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89560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Protected volumes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72C1121-A1E2-4589-A224-E346481E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00400"/>
            <a:ext cx="1466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多数ボリュームを10秒間隔で見る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0D16A06-AB82-4432-AFEB-52AB12A1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286250"/>
            <a:ext cx="38481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FFB"/>
          </a:solidFill>
          <a:ln xmlns:a="http://schemas.openxmlformats.org/drawingml/2006/main" w="13335">
            <a:solidFill>
              <a:srgbClr val="22C55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AFD6394-3857-4948-82ED-93A7B79C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286250"/>
            <a:ext cx="381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3A40553-2714-4EFD-B5EE-241B2D45B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38650"/>
            <a:ext cx="3505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C55E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2C55E"/>
                </a:solidFill>
                <a:latin typeface="Hiragino Sans"/>
                <a:ea typeface="Hiragino Sans"/>
                <a:cs typeface="Hiragino Sans"/>
              </a:rPr>
              <a:t>組み込み検知パス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C455D0B-F6C4-423F-84FA-ECF9B34C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19650"/>
            <a:ext cx="914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02BDB6E-5668-4193-BCE4-29181204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86325"/>
            <a:ext cx="685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collector</a:t>
            </a:r>
          </a:p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軽量カウンタ集計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77B705D-4A38-498E-B083-08B9A43F4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819650"/>
            <a:ext cx="95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56B2FD2-2693-48C4-ABE5-A9126AD5E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886325"/>
            <a:ext cx="723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feature ring</a:t>
            </a:r>
          </a:p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統計列を保持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3E0490D-D98A-41D0-9DB3-D9811F35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19650"/>
            <a:ext cx="95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73BF4FA-2D64-4C44-BC3D-C04FA5B4E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886325"/>
            <a:ext cx="723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AE score</a:t>
            </a:r>
          </a:p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再構成誤差を計算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D2755B2-E333-487E-BB46-471E7CD9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29250"/>
            <a:ext cx="266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88B57B1-572B-4F62-A314-51B239C13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29250"/>
            <a:ext cx="38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90E0573-9094-4AE4-ADD7-D9479EA0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5816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観測境界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C64257C-D1D5-4627-8538-BB68C4FE4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429250"/>
            <a:ext cx="266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0385589-0084-4BA9-AA86-F4E08122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429250"/>
            <a:ext cx="38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53C101A-7DA5-41CD-A863-7C0D7455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5816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検証対象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4FDF1D9-9FBD-49EF-B7B5-E21B682E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429250"/>
            <a:ext cx="266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C2626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E1724FD-5FD1-4EA5-B4C0-6BBCB8CF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429250"/>
            <a:ext cx="38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C209E80-B201-4AA5-8DED-1AD17F3E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5816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未主張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46963D5-256B-4DDD-A5DB-D064A8C1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867400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ブロック要求メタデータだけ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CB38749-B10E-46D3-A302-63E623CEB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867400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軽量MLの成立性を測る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95BB2E7-0475-4D18-8DFB-E4F805F3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67400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性能・早期警告は未主張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A4BBF59-6569-486A-AD07-31E633775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D1D8BE1-0EF2-4992-B7CD-692096F6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docs/interface/ResearchBrief.md, docs/04_embedded_constraints.md, paper/sections/05_input_contract.tex</a:t>
            </a:r>
          </a:p>
        </p:txBody>
      </p:sp>
    </p:spTree>
    <p:extLst>
      <p:ext uri="{BB962C8B-B14F-4D97-AF65-F5344CB8AC3E}">
        <p14:creationId xmlns:p14="http://schemas.microsoft.com/office/powerpoint/2010/main" val="4937937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AA61BC-156E-459A-B880-D6E91C99C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42C51D-30B3-410C-AE14-D606EB0C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E822FC-D3B9-4E0F-8AB7-3CBE6E19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17E26A-E3D8-4C4B-B08E-62C4E185F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DECISION FRAME | 判定基準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972CFD-58F9-42D6-A821-3AECE618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BB3469-9AB0-46CD-BD3B-5A88732E5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2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導入可否の前に、次実験の判定基準を決める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761F53-D652-4A11-913F-4D642B09F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10744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BE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F9A7CF-B3C7-4359-8FCA-84935206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A8FE98-8C03-4983-BFE4-F6D9DB67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1019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主張 | 決める対象は採用可否ではなく、単純規則・AE複雑度・装置制約で候補を進めるか止めるかの基準である。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928659-D43C-467C-B09D-4B051A10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133600"/>
            <a:ext cx="3638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5240">
            <a:solidFill>
              <a:srgbClr val="1580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B6A0C6-9858-4B14-A18D-9D4407E9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133600"/>
            <a:ext cx="47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7B43E3-AEE4-4E88-AF2B-6C4F7415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238375"/>
            <a:ext cx="3352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残す候補より先に、止める条件を固定する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BBBA63-A71F-4044-88FD-5D7C9B301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E01C25-6034-411B-87BA-27EC2294A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38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4246FA-99CF-4B12-B56A-BE094CA1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0035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1. 単純規則で足りるか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363987-94B8-482E-B7A6-FBE862D0A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1924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write ratio、I/O強度、LBA移動で説明できるならAE候補を縮小または棄却する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732F13-7621-4D56-82E0-4ED1F70B1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6710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EF9181-CBE5-4696-BE4F-FA462714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36232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AABC14-585A-4436-ADAD-7B001769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4795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333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4141C1-5C66-4F9E-A0FB-7E34E402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47950"/>
            <a:ext cx="38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7985FE-BEFC-43E7-B378-2848E1FB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80035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2. どの演算まで必要か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DCDFF0-F9D4-4B96-915B-93E11E693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05150"/>
            <a:ext cx="1924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Dense、時系列文脈、局所時間特徴、CNN-GRUを同じ入力で順番に比べる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2469B6-690E-4E1B-8A67-DF581FC3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46710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CCBB76-C75D-4EDF-BE7E-DF0446569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36232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9B42EF-A273-4695-8F0F-DBA8A27A7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4795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3335">
            <a:solidFill>
              <a:srgbClr val="B4530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4B8B67-F868-4941-A91F-9257F88A4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47950"/>
            <a:ext cx="38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676ABA-D7D4-4046-B3A4-AED64A4F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0035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3. 装置制約に収まるか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FFD6EA-64C0-49A2-8F05-AB2E83DEF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105150"/>
            <a:ext cx="1924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500 KB detector-data、MNN score一致、10秒間隔のCPU枠を別々に測る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616084-4636-4CE6-8739-5816C9A3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46710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5AA41C-148E-4946-95DC-4E5731853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36232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B8341F-1357-404A-A114-356C5F5F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64795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866A7A-F069-4944-9330-0B764DDA3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647950"/>
            <a:ext cx="38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2E375C-3418-4ECF-8D38-33EE81506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0035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4. 次に何を測るか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4DE8BB0-1AD1-4212-ACCE-C2574CEE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05150"/>
            <a:ext cx="1924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manifest付き実験、MNN変換、メモリ測定のどれが判断を進めるかを決める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7A56262-C0F6-490F-ABF5-A7445BE4D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33950"/>
            <a:ext cx="4286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7196FF-DAB4-458A-8F49-ACCA3887B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33950"/>
            <a:ext cx="38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A8652E0-E2BB-44EF-A04B-4B2A60F7E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86350"/>
            <a:ext cx="3943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進める条件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9712E77-26A1-48CC-BD21-87F87BAEE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391150"/>
            <a:ext cx="394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単純規則を超える説明価値があり、MNN変換後のscore差、per-volume状態量、10秒間隔の見込みを測れる。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022CB9C-789B-445F-BA00-E752B67C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33950"/>
            <a:ext cx="4286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C262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3D1C584-1BF1-4D44-8C2F-411B76A0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33950"/>
            <a:ext cx="38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A6723CE-CC87-47E4-B738-9415D2A27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086350"/>
            <a:ext cx="3943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止める条件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29C98C0-F55B-4127-859E-C8E0A8CC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391150"/>
            <a:ext cx="394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単純規則で十分、安価な特徴量が不足、MNN score一致が崩れる、500 KBまたは10秒間隔のどちらかを満たせない。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1A168C-10AA-410F-99BB-CA63E2A14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BBF74C6-711D-4078-8B88-3E0EBF885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docs/03_PROJECT_RULES.md, docs/evidence/manuscript_claim_gate_matrix.md, docs/04_embedded_constraints.md</a:t>
            </a:r>
          </a:p>
        </p:txBody>
      </p:sp>
    </p:spTree>
    <p:extLst>
      <p:ext uri="{BB962C8B-B14F-4D97-AF65-F5344CB8AC3E}">
        <p14:creationId xmlns:p14="http://schemas.microsoft.com/office/powerpoint/2010/main" val="98281090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BF9EA4-AAFA-41C7-A197-2947C873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FC1834-F8DF-4702-8C2F-F907696B2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CF4E4F-9E25-4DE9-AA61-B69D0CF5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14FCC4-102F-4663-9AF8-4320A9F4D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INPUT CONTRACT | 10秒統計からML入力へ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2EEED2-EE0D-4CA8-B240-9642432C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7A1C5A-ED2A-4262-A4A0-53C920BDB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生イベントを保存せず、10秒統計を入力にする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037E9B-7A6D-410E-A198-F3D66A54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10744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BE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C9426-3539-436A-B2D2-E1DD0E916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4537E4-8C6D-4E32-B514-AF2403B7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1019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主張 | MLに渡すのは生イベント列ではなく、装置内で低コストに集計できる固定長の10秒統計列である。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E40A6B-C3C7-485F-B7D5-CC9D0552F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472440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2E4EB8-D8A8-4A6F-9E39-707CBF23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3810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C53FC6-D1D3-41F5-A6B3-E9098600D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frame_10s: 装置で低コストに集計できる候補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ED7D06-50D0-4921-BC24-F172D72B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956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E7176C-A8EB-4AED-8384-EE2C32AB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count / bytes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89F57F-FC27-432C-9F46-5B3225EA8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89560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3C8BC0-1E38-49B8-A473-D101C45E8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3370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I/O量の強さ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D340BC-A6DB-482E-83E4-F739309CE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4CA007-B988-4333-B7C4-F1179BAD3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1945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write ratio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C089E9-8855-43E9-8CD8-962970A8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18135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0DC7BA-F206-4B7D-9BCF-A46AEF02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21945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書き込み偏り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6415EC-D4AA-449B-8F1B-B23051812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671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9AD121-9ADE-4A35-A11B-C51C266E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mean LBA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9B01D9-E402-466A-BB53-6B2130FF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46710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A424B5-C805-4BDF-9BC6-4FC29B66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50520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アクセス位置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82DA59-1C06-439A-8640-E4BBA4E8E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528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4D34F0-8AEA-4B0B-8559-6A0FC040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9095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mean length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FDE7BF-C9ED-4764-9754-0C2313A3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75285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953DB6-228A-4972-84D5-9A5C19F3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79095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転送長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595550-80B0-427E-A913-8E04463E7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386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67E285F-078E-46FB-BE9A-D070A94B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delta mean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C511ED-0695-4909-B047-104A28B0C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03860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27C7A3E-4AD6-4422-9611-C6809A7C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07670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前窓からの変化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3FE1E94-5DC2-49D7-B2C6-B15B4271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1BED2C-B48E-447C-B535-85627B9D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6245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optional telemetry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6E29958-B9E8-4E00-BB08-94C915F4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32435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0A70C34-81CA-409C-AE45-F8834DC9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36245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低コストな圧縮/entropy系カウンタがある場合のみ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28EE6C6-068F-4630-A5EB-F4B5C40B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101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55B5E40-1803-4292-BF72-70553E0FF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482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padding / mask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8D3C71A-0AD0-4005-A874-576EC065A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61010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C952265-81D4-4391-A36F-6245F0B4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64820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未提供の列はloss/scoreから外す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CCDCA94-85C2-4FB3-93CD-C37A3A72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76500"/>
            <a:ext cx="26098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3D82DA3-00DA-4E89-A5E2-014F6E31E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47950"/>
            <a:ext cx="22669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X: [batch=1, N, D]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initial: N=12, D=12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context: 12 x 10s ~= 2 min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score: outside MNN graph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threshold: outside MNN graph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77E9878-722F-4DA9-8C9A-91319D979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76500"/>
            <a:ext cx="22479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3335">
            <a:solidFill>
              <a:srgbClr val="7C3AE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DABEEE5-E601-4AC5-B4A6-98949B35F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76500"/>
            <a:ext cx="381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A2DCC4C-4155-4316-8A19-28243528F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289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固定長にする理由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871C7FB-941C-40FD-B09E-BDA9B169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33700"/>
            <a:ext cx="1905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MNN変換、メモリ、CPU枠を同じ条件で比べるため。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233E07F-B904-4597-9A77-0ED673D9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619750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D387504-C0C9-4118-92DB-90ED0EDC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86425"/>
            <a:ext cx="472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使わない: ファイルパス / プロセス名 / ランサムウェア署名 / ファイル本文スキャン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BF0ECC9-6CB7-43D0-8762-B88126EB8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61975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7E195D0-847A-4853-8270-C7AF9ACAB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686425"/>
            <a:ext cx="3676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使う: SCSI/NVMe相当のメタデータ と 軽量カウンタ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4467D31-AADC-44FE-B677-D2C0BC03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B6A6872-FA9B-4912-957F-332D409AE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paper/sections/05_input_contract.tex, docs/04_embedded_constraints.md, docs/06_memory_aware_ae_candidates.md</a:t>
            </a:r>
          </a:p>
        </p:txBody>
      </p:sp>
    </p:spTree>
    <p:extLst>
      <p:ext uri="{BB962C8B-B14F-4D97-AF65-F5344CB8AC3E}">
        <p14:creationId xmlns:p14="http://schemas.microsoft.com/office/powerpoint/2010/main" val="207181530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31A857-AAAE-473E-B122-FC60B70A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9719A9-AC3B-4959-A706-467EF1B46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71BFE9-0C0B-40AF-99A0-7BFD68CFA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B78EE0-DE0A-473A-950B-02FFF89F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MODEL CANDIDATES | AE-01..05 の技術的な意味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26B4C5-8BBF-46BC-97B0-AD7FA126C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B56A14-6C32-4F34-B6C0-700D34054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AE-01..05は、追加演算の価値を測る比較順序である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1ACA27-236F-4C56-B41B-A58690C6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10744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BE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A4D188-959D-4F18-8188-C9C2B89B4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3EB420-E84F-435F-9D91-924BCADD7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1019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主張 | 単純なMLPで説明できるなら上位候補へ進まず、残る差分だけをDense、GRU、Conv1D、CNN-GRUで検証する。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9F91B7-7342-4CDB-BEE9-57B924AE9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10744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1430">
            <a:solidFill>
              <a:srgbClr val="11182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F1B51C-6AFC-4B37-B8DD-720181D1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647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0F5246-1BD9-424F-A117-1423BE839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228850"/>
            <a:ext cx="9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055169-1920-491C-9F96-CB92D2C6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305050"/>
            <a:ext cx="2228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候補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B2186E-EC4B-4944-9271-6D926B16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228850"/>
            <a:ext cx="9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E0AA33-B86C-40B7-9602-5B21A76E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05050"/>
            <a:ext cx="2800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演算の役割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F8F1AE-D880-4BA7-93A6-39D7F4EC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28850"/>
            <a:ext cx="9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3EF30C-0AD0-49CD-A635-ED6639AB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305050"/>
            <a:ext cx="1409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計画サイズ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0EA9A0-4DAC-4579-A9DE-96C45ECA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228850"/>
            <a:ext cx="9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5340E5-38D3-4E11-843D-46E4AD46D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305050"/>
            <a:ext cx="2514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評価する目的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6C8B46-3D78-43C5-8F73-6C47AAA21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1430">
            <a:solidFill>
              <a:srgbClr val="7C3A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0E1486-5193-47FE-9686-D5E136C8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AE-01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1674CA-03BB-4806-8079-25AFEEB5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6479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3CC0ED-5EA7-4C78-87C3-506314D9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2415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Flat MLP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0E4045-6755-4BA0-908A-BB701035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6479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BBC3C2-9A66-45FD-836F-22E877F3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241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2分窓をまとめて圧縮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7574F2-7D39-471A-B68D-9DBC17DC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6479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9F1A99-9833-4518-BF47-B6D7F494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72415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9,944-20,768 params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AE81CE-F86B-4394-9561-0A4F9B3A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479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3C3306-C5C0-4978-8D16-DB1F95BEE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2415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粗い統計だけで差分が見えるか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C74B386-974E-4A77-AD5F-476F4F21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004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C9BE19-8F67-4428-85D2-7A8F744C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AE-02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E6A2789-72F4-4B82-981A-24242E77F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00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03A50A1-03F0-403E-BE53-372E60EB7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7660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Two-level Dense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A8D9B93-E189-4C08-943A-1125B7EE5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200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B8892B-33F4-4926-9BED-0E8EDA14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7660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10秒単位で圧縮し、系列を圧縮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109B55-EC04-4389-87D8-0B8A2838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00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8D61BDC-8975-4F00-9152-0898E476B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7660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5,836 params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A4CB832-8A15-4D1C-ADA3-319D3118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00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3662FCB-02B3-45C6-ACF7-6D5C0DE60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7660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時間演算なしで足りるか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23CA07B-1E88-47DF-914D-EBE8087BF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1430">
            <a:solidFill>
              <a:srgbClr val="15803D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691795-4B67-42C0-A80B-50670078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AE-03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5F18BD1-E4E3-4A03-AAE6-BF0DC165D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7528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DAE75A1-41DA-48A7-A69B-D6C17064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2905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GRU context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2FCC62-A5E4-43E8-907A-32048B83C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7528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0CE40F6-384B-495E-9E5A-A75926CDE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8290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順序と過去文脈を使う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AB2B343-9FDF-4688-B3B2-C4F139882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7528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349BE32-BE3B-45D0-874A-901800F0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82905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7,052 params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2799752-808B-472F-9080-142C0371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528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B15CF94-8AC8-45B5-BC06-3C2111B46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82905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履歴を見ないと説明できないか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184CB00-D0D1-4672-8DB6-738EC8E0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FAFE"/>
          </a:solidFill>
          <a:ln xmlns:a="http://schemas.openxmlformats.org/drawingml/2006/main" w="11430">
            <a:solidFill>
              <a:srgbClr val="0891B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BDE00B3-6585-4B12-968D-95A1D62B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8150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91B2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0891B2"/>
                </a:solidFill>
                <a:latin typeface="Hiragino Sans"/>
                <a:ea typeface="Hiragino Sans"/>
                <a:cs typeface="Hiragino Sans"/>
              </a:rPr>
              <a:t>AE-04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56DDC35-3085-45F2-845F-0EDA5D1E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3053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1F9DED0-B961-4EAC-9DA3-F28A7CFAE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8150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Temporal Conv1D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8E04882-54C4-481D-A8AF-45734D51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3053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0C6B52D-C112-43D9-92C4-10C464ADC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38150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近傍時間の局所変化を抽出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D5F5E95-4E39-413F-9CA8-4B5833D04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3053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C8E747E-4096-4B6C-8FEA-903BBA83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38150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5,684 params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B5EAC06-6029-4E17-A160-B7A030CF0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3053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8EC3289-D5BF-44F5-B166-27FA69FB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38150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GRUなしの時間特徴で足りるか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057ECCE-8C56-4BA0-9152-F95994D9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1430">
            <a:solidFill>
              <a:srgbClr val="F97316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5FDE8CA-58F0-4C80-A5D4-CC3103B85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97316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97316"/>
                </a:solidFill>
                <a:latin typeface="Hiragino Sans"/>
                <a:ea typeface="Hiragino Sans"/>
                <a:cs typeface="Hiragino Sans"/>
              </a:rPr>
              <a:t>AE-05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CF6FDCF-E8B8-4670-8A71-909A6C5C8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57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B69E540-EF63-4061-8EEA-69B6B19AE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3395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Tiny CNN-GRU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2B64C33-6BC7-41F0-9DB0-682B7FAE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857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9208974-AF52-45AC-966F-2E04004B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339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特徴混合・文脈・ボトルネック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BE454A2-D0F7-4E6F-A945-A547D1CE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857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DB7CFB3-1658-4148-A70B-378E07916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3395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8,052 params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9E65B63-B490-45D8-94E5-4A34E292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857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28460AD-8BFE-4785-9153-C1175DDB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93395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複合モデルの追加演算に価値があるか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7C36560-BE1A-4A90-AB4E-18BBFC67C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75310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194EAD7-1225-4CDE-8778-9A2668AF3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819775"/>
            <a:ext cx="3771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選定方針: 単純な候補で説明できるなら、上位候補へ進めない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6BFAFDA-4370-4A4C-9E7C-4DDA4A66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753100"/>
            <a:ext cx="4191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4808D1F-A77F-4474-A55A-4C09FB983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819775"/>
            <a:ext cx="396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未主張: 実測前に性能順位・MNN適合・500 KB内に収まった結論を言わない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F04B419-A0EF-49B2-B839-2B36CF23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6EC8F3F-84D5-4C91-9543-91505B254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docs/06_memory_aware_ae_candidates.md, paper/sections/06_autoencoder_candidates.tex</a:t>
            </a:r>
          </a:p>
        </p:txBody>
      </p:sp>
    </p:spTree>
    <p:extLst>
      <p:ext uri="{BB962C8B-B14F-4D97-AF65-F5344CB8AC3E}">
        <p14:creationId xmlns:p14="http://schemas.microsoft.com/office/powerpoint/2010/main" val="147232285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9A472D-9E99-44CA-9BE2-1112E6DB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A672CC-B23C-4212-8894-21AC9CDB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DD651F-012F-4E11-883D-B9F1D568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20EBED-BC7B-49E2-B4FD-6CA8C7154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RESOURCE BUDGET | MLに使える資源は小さい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6B824F-E219-426E-B086-EE50F565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89A82A-B2F2-4055-9314-B89E73B2A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10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500 KBの対象は、重みだけでなくボリュームごとの状態である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E01E40-5F6B-4CDB-810A-E5BCE19A0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10744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BE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132AB7-2D5B-41AC-8BBF-C4FCD93CE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673D9B-3320-4D60-B71E-CB466F2E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1019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主張 | 予算に入れるのはモデル重み、入力列、正規化値、しきい値、スコア履歴であり、共有runtimeや一時scratchとは分けて測る。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7AC8FA-E199-42DD-9A66-E3FEF5C30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443865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7543CF-A9D0-4A43-8240-CF66F774D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38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E64FB8-D8D9-48BA-865B-1EB197801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336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ボリュームごとの detector-data 目標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FA0FD-140F-4EB8-A3C2-4CA0ED3B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0990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A43D70-7F3B-41AD-8ADA-FC114BD8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48000"/>
            <a:ext cx="2495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model weights + quant metadata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571308-734C-400A-B414-AF1CA1D6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00990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7CA32B-9831-4251-8DEA-38332DFB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0480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&lt;= 360 KB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410456-EE3A-43DE-A504-F3A5EFEDD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0995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1580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AD5EC6-643D-4545-957D-78D2726CF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48050"/>
            <a:ext cx="2495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10s input sequence buffers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ADBDA8-D0A5-4E61-B5A7-584D72416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0995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F6D60A-1D5C-4F31-A422-9D140A8E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44805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&lt;= 64 KB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977C32-AC75-4A0F-B4CA-18CC62F00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1000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7C3AE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D9C891-00A7-4C4F-9B9E-9A9E2E83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48100"/>
            <a:ext cx="2495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normalization / threshold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5BB66E-81CB-4C1E-A42A-6193E75C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81000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2EBE7F-2DB6-413F-8186-64F2020FB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8481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&lt;= 24 KB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659248-1D1A-45CE-9CAE-6E350E0D6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1005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0891B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C306FF-F7F7-4010-A597-5E76B930A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48150"/>
            <a:ext cx="2495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score history / explanation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6981AD-D539-4FBA-8945-CBE035DA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21005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FA41A9-CF5D-41F7-9E34-6B21139C6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24815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891B2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0891B2"/>
                </a:solidFill>
                <a:latin typeface="Hiragino Sans"/>
                <a:ea typeface="Hiragino Sans"/>
                <a:cs typeface="Hiragino Sans"/>
              </a:rPr>
              <a:t>&lt;= 16 KB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94A0C7-4432-43F9-9A78-12D32B85F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1010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F9731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FAAF61-09AB-490E-8B92-2A9E3C0B5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48200"/>
            <a:ext cx="2495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metadata + margin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A0399D-2E2D-48B9-8E80-F8CA85B76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61010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402D027-B74A-4CD5-B047-48211A8E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6482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97316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97316"/>
                </a:solidFill>
                <a:latin typeface="Hiragino Sans"/>
                <a:ea typeface="Hiragino Sans"/>
                <a:cs typeface="Hiragino Sans"/>
              </a:rPr>
              <a:t>&lt;= 36 KB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D18386-F0CA-45BB-9280-121702CFE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上限目安。実装・MNN変換後の測定で置き換える。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A2DD24-78F8-401D-83E1-9BCC2DD4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400300"/>
            <a:ext cx="4762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ABD10F6-1683-4756-8076-8B984537D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400300"/>
            <a:ext cx="381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25714E-29E5-42A5-8902-4B91E228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52700"/>
            <a:ext cx="441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aggregate device-fit view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407314-2706-4893-976F-2A796589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57500"/>
            <a:ext cx="4419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M_persistent(V) = M_shared_runtime + M_shared_weights + V x state_per_volume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M_peak(V,Q) = M_persistent(V) + Q x transient_scratch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B942B16-0322-4EEE-886E-99937905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01955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6492FE1-DE1A-4969-92D0-EB5B953F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86225"/>
            <a:ext cx="1390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V ~= 2000</a:t>
            </a:r>
          </a:p>
          <a:p xmlns:a="http://schemas.openxmlformats.org/drawingml/2006/main">
            <a:pPr algn="ctr">
              <a:def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多数ボリュームを10秒間隔で採点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B6A4C3-528A-45AE-81BB-A7B356770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1955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7FBF80-F0FC-4EAB-B5C7-504D7D14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86225"/>
            <a:ext cx="1390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Q slots</a:t>
            </a:r>
          </a:p>
          <a:p xmlns:a="http://schemas.openxmlformats.org/drawingml/2006/main">
            <a:pPr algn="ctr">
              <a:defRPr sz="713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同時推論slotに応じて一時scratchが増える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95D06D-CE89-4C6E-A471-9629C4D0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01955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765A061-D645-499F-972F-2F9766A99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086225"/>
            <a:ext cx="1390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CPU window</a:t>
            </a:r>
          </a:p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10秒内に全ボリュームを採点できるか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C05159-B251-4DC6-952E-59C01D58A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EE921BC-0B41-4D4F-8CF8-45EAF84F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docs/04_embedded_constraints.md, docs/memo/500kb_budget_reconciliation.md, paper/sections/08_mnn_implementation_plan.tex</a:t>
            </a:r>
          </a:p>
        </p:txBody>
      </p:sp>
    </p:spTree>
    <p:extLst>
      <p:ext uri="{BB962C8B-B14F-4D97-AF65-F5344CB8AC3E}">
        <p14:creationId xmlns:p14="http://schemas.microsoft.com/office/powerpoint/2010/main" val="157478653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90FBFD-CC34-4214-A2B3-3E2B0E59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3058C1-F055-4E2F-B819-888660C9B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169F84-6023-406A-A655-208C5C25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8BBA6F-AA5C-41B2-95B3-422A68062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EVALUATION | 技術判断に必要な証拠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058C6A-4F82-48D6-9A12-CF4FEA20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2B6A88-AC51-491F-8517-2E8C21EC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2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採用・縮小・棄却は、四つの証拠で判断する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CC8CBA-07D8-4EDF-9831-F9FD19A73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10744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BE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E072ED-16B5-42EB-9525-30A876943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FA9CD-1374-40DC-8B79-E961BDEF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1019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主張 | 候補は精度だけで選ばず、offline比較、MNN score一致、detector-data、10秒間隔を同じ判定表で評価する。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EDFC7D-6B14-407D-BA6C-64ACAA34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2781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5240">
            <a:solidFill>
              <a:srgbClr val="DC262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2871E5-9E85-4CD0-BB31-4EDB6EBB1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47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AC4809-64F2-43DE-8327-8DBD0DDA6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38375"/>
            <a:ext cx="2495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まだ採用とは言わない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061245-9D53-4E37-897F-49E0F71C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90800"/>
            <a:ext cx="2247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525CB6-5625-444B-B185-6441094D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90800"/>
            <a:ext cx="381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34592B-DE3B-4D7A-A1E6-7D0C0D83A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432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1. offline検証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6503C0-F8DD-4DDD-B9E0-E78446322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480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benign-only学習、単純規則、AE-01..05を誤警報を抑えた条件で比較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360471-6EE0-494C-9A2E-D0F1946B5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2194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903BE1-CEE8-440E-AC4A-ABDC406B5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1146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E3B4E9-99C2-45CC-A204-B01332065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90800"/>
            <a:ext cx="2247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333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D142F7-7F34-4265-BCCB-F1EE39BF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90800"/>
            <a:ext cx="381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1BDA2E-91F4-4601-B70D-51E33CDDE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432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2. score一致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7FA388-BFFA-4D82-B42D-64695DB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0480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同一入力でoffline scoreとMNN scoreの差を測る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06DDC6-0FC0-48D5-B965-19EB071A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2194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C8F5FA-B801-474C-AE9E-D6361A5F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1146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4D117F-3748-4804-952A-C7E0A189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90800"/>
            <a:ext cx="2247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3335">
            <a:solidFill>
              <a:srgbClr val="B4530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26E4AE-5B7A-4481-95E4-815064642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90800"/>
            <a:ext cx="381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5D6871-BC71-46AC-915B-CAA4F5D0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7432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3. detector-data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B8CC3C-1A07-4818-8700-7664E2037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0480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重み、入力列、正規化、threshold、履歴が500 KB内か測る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C296E1-EFED-4274-8EE7-5FA13B64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2194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4F720F-2D21-4AEB-A5D1-89A286A0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1146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652868-0219-4363-87CB-A028FF6C4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90800"/>
            <a:ext cx="2247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8C348A-4D55-474C-BAC4-0DD98D80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90800"/>
            <a:ext cx="381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F634AE-FF60-4B66-A541-A4C729A4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432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4. scheduling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D7AD06-D885-45F9-9787-314758DD5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VボリュームとQ推論slotで10秒間隔を守れるか測る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03F213-F8DE-47B0-B418-AB23E47E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95800"/>
            <a:ext cx="409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E7369F-2247-4BE1-8F88-F5222E6ED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95800"/>
            <a:ext cx="38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B6EDD9A-F2FF-40ED-BA25-C255D92A1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48200"/>
            <a:ext cx="3752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主要な評価値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4CCBF51-A91D-4CCA-A42B-764C898BF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953000"/>
            <a:ext cx="3752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誤警報の少なさ / 警告までの時間 / 警告前の被害量 / どの特徴量が変化したか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9ADFD3-CA4A-4E79-84BC-A1B4B0C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95800"/>
            <a:ext cx="409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D52C0FF-37C8-430B-9F28-D5E1D67C0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95800"/>
            <a:ext cx="38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88FE605-2626-4519-AE70-E379E3A25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648200"/>
            <a:ext cx="3752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制約に当たった時の縮小順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BC555CD-A1B2-4505-BE29-FC49CB492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953000"/>
            <a:ext cx="3752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特徴数Dを減らす -&gt; 系列長Nを短くする -&gt; hidden sizeを縮める -&gt; AE-05から単純候補へ戻す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2293F52-B774-442F-A2A4-C0369C57C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753100"/>
            <a:ext cx="514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F9F6BAF-D89E-4EFF-90DE-F9B0B5040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819775"/>
            <a:ext cx="4914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固定済み: block I/O観測境界、10秒統計、AE候補、device-fitゲート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EB1B388-E276-4B77-9723-6B0D1B2A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75310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DE7032A-2212-4C43-8DFE-FB4C6DB0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819775"/>
            <a:ext cx="3676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未主張: 検出性能、MNN readiness、500 KB内に収まった結論、実運用早期警告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980CE3E-4C9D-4110-9AEE-C7139296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C5571B-4C7F-4CFB-8369-BE6368AD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paper/sections/07_evaluation_plan.tex, paper/sections/08_mnn_implementation_plan.tex, docs/evidence/manuscript_claim_gate_matrix.md</a:t>
            </a:r>
          </a:p>
        </p:txBody>
      </p:sp>
    </p:spTree>
    <p:extLst>
      <p:ext uri="{BB962C8B-B14F-4D97-AF65-F5344CB8AC3E}">
        <p14:creationId xmlns:p14="http://schemas.microsoft.com/office/powerpoint/2010/main" val="17329318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2026-05-16T22:59:58.2750000Z</dcterms:created>
  <dcterms:modified xsi:type="dcterms:W3CDTF">2026-05-16T22:59:58.2750000Z</dcterms:modified>
</coreProperties>
</file>