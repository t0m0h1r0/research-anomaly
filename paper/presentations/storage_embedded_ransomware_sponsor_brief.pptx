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79155c519e469b" /><Relationship Type="http://schemas.openxmlformats.org/officeDocument/2006/relationships/extended-properties" Target="/docProps/app.xml" Id="Rfc352bd4e0b1433a" /><Relationship Type="http://schemas.openxmlformats.org/officeDocument/2006/relationships/officeDocument" Target="/ppt/presentation.xml" Id="R07ad2fe7d834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2a0d22a58d4f32"/>
  </p:sldMasterIdLst>
  <p:notesMasterIdLst>
    <p:notesMasterId xmlns:r="http://schemas.openxmlformats.org/officeDocument/2006/relationships" r:id="R8dd23756957546a0"/>
  </p:notesMasterIdLst>
  <p:sldIdLst>
    <p:sldId xmlns:r="http://schemas.openxmlformats.org/officeDocument/2006/relationships" id="256" r:id="Rd6c62c6c98664170"/>
    <p:sldId xmlns:r="http://schemas.openxmlformats.org/officeDocument/2006/relationships" id="257" r:id="Rbb2331d491024646"/>
    <p:sldId xmlns:r="http://schemas.openxmlformats.org/officeDocument/2006/relationships" id="258" r:id="R9e0e869f9bcc48dd"/>
    <p:sldId xmlns:r="http://schemas.openxmlformats.org/officeDocument/2006/relationships" id="259" r:id="R9a8d79fbd2aa4f29"/>
    <p:sldId xmlns:r="http://schemas.openxmlformats.org/officeDocument/2006/relationships" id="260" r:id="R29dee7d4c15a44c8"/>
    <p:sldId xmlns:r="http://schemas.openxmlformats.org/officeDocument/2006/relationships" id="261" r:id="R8738d942bfeb4b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a0d22a58d4f32" /><Relationship Type="http://schemas.openxmlformats.org/officeDocument/2006/relationships/theme" Target="/ppt/theme/theme1.xml" Id="R9054b23168174aa2" /><Relationship Type="http://schemas.openxmlformats.org/officeDocument/2006/relationships/notesMaster" Target="/ppt/notesMasters/notesMaster1.xml" Id="R8dd23756957546a0" /><Relationship Type="http://schemas.openxmlformats.org/officeDocument/2006/relationships/presProps" Target="/ppt/presProps.xml" Id="R2658c8cab2254b08" /><Relationship Type="http://schemas.openxmlformats.org/officeDocument/2006/relationships/viewProps" Target="/ppt/viewProps.xml" Id="R06f28749014a47e2" /><Relationship Type="http://schemas.openxmlformats.org/officeDocument/2006/relationships/tableStyles" Target="/ppt/tableStyles.xml" Id="Rab7792785c2f4571" /><Relationship Type="http://schemas.openxmlformats.org/officeDocument/2006/relationships/slide" Target="/ppt/slides/slide1.xml" Id="Rd6c62c6c98664170" /><Relationship Type="http://schemas.openxmlformats.org/officeDocument/2006/relationships/slide" Target="/ppt/slides/slide2.xml" Id="Rbb2331d491024646" /><Relationship Type="http://schemas.openxmlformats.org/officeDocument/2006/relationships/slide" Target="/ppt/slides/slide3.xml" Id="R9e0e869f9bcc48dd" /><Relationship Type="http://schemas.openxmlformats.org/officeDocument/2006/relationships/slide" Target="/ppt/slides/slide4.xml" Id="R9a8d79fbd2aa4f29" /><Relationship Type="http://schemas.openxmlformats.org/officeDocument/2006/relationships/slide" Target="/ppt/slides/slide5.xml" Id="R29dee7d4c15a44c8" /><Relationship Type="http://schemas.openxmlformats.org/officeDocument/2006/relationships/slide" Target="/ppt/slides/slide6.xml" Id="R8738d942bfeb4b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b57206349b4b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22877d4efa4445" /><Relationship Type="http://schemas.openxmlformats.org/officeDocument/2006/relationships/notesMaster" Target="/ppt/notesMasters/notesMaster1.xml" Id="R415f4671c20845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a4656edef34c31" /><Relationship Type="http://schemas.openxmlformats.org/officeDocument/2006/relationships/notesMaster" Target="/ppt/notesMasters/notesMaster1.xml" Id="Ra776a79237914f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9f88047564aca" /><Relationship Type="http://schemas.openxmlformats.org/officeDocument/2006/relationships/notesMaster" Target="/ppt/notesMasters/notesMaster1.xml" Id="Ref82599c6d0244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9038220c04f1d" /><Relationship Type="http://schemas.openxmlformats.org/officeDocument/2006/relationships/notesMaster" Target="/ppt/notesMasters/notesMaster1.xml" Id="R32da9a17835446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ddecf2d58c4879" /><Relationship Type="http://schemas.openxmlformats.org/officeDocument/2006/relationships/notesMaster" Target="/ppt/notesMasters/notesMaster1.xml" Id="R171be1e1df1949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f654509c704fcc" /><Relationship Type="http://schemas.openxmlformats.org/officeDocument/2006/relationships/notesMaster" Target="/ppt/notesMasters/notesMaster1.xml" Id="Rf97104c138154d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ac672704447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73b1d33fe8c4e22" /><Relationship Type="http://schemas.openxmlformats.org/officeDocument/2006/relationships/slideLayout" Target="/ppt/slideLayouts/slideLayout2.xml" Id="R5ecc10da0be948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c10da0be948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a65f22fdc403a" /><Relationship Type="http://schemas.openxmlformats.org/officeDocument/2006/relationships/notesSlide" Target="/ppt/notesSlides/notesSlide1.xml" Id="Rc0bc1ff505c344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8bad27ef964143" /><Relationship Type="http://schemas.openxmlformats.org/officeDocument/2006/relationships/notesSlide" Target="/ppt/notesSlides/notesSlide2.xml" Id="R1d05509ec0b643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b38cccebc149e8" /><Relationship Type="http://schemas.openxmlformats.org/officeDocument/2006/relationships/notesSlide" Target="/ppt/notesSlides/notesSlide3.xml" Id="R4b528bd1ebfc48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c9b2f868fd42ad" /><Relationship Type="http://schemas.openxmlformats.org/officeDocument/2006/relationships/notesSlide" Target="/ppt/notesSlides/notesSlide4.xml" Id="R4d879971066845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3e77cc093a4a0a" /><Relationship Type="http://schemas.openxmlformats.org/officeDocument/2006/relationships/notesSlide" Target="/ppt/notesSlides/notesSlide5.xml" Id="R56350e72352f4c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e87db7aa0457b" /><Relationship Type="http://schemas.openxmlformats.org/officeDocument/2006/relationships/notesSlide" Target="/ppt/notesSlides/notesSlide6.xml" Id="R91fbad0aab164e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C9D7C-CA41-4088-833E-1FCFB91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CB888-07C8-4E23-BE30-959A2B45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AB935-DEEF-4BFB-96A7-2A2644B3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808FA-0D11-467C-B8DE-3CC4CF1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rPr>
              <a:t>TECHNICAL SCOPE | ブロックストレージ組み込み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399FD-F136-4036-8344-91668FF6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A4DBD-D97D-450A-B4BF-D9A5CC2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175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観測範囲をブロックI/Oに絞り、入力として足りるかを測る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69A05-30D9-4446-9CDD-7674619A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B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C5E10-97F5-462D-8B3D-D4B6DDD4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E9209-C83E-4201-97E3-DB26B96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主張 | プロセス名やファイルパスを使わず、要求メタデータだけでAE候補に渡す統計列を作れるかを検証する。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A9F35-A8A3-457D-A041-9497286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000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520F7-E786-482F-900C-C402B66D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09850"/>
            <a:ext cx="354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338CC-DF6C-4BB2-BF35-04A74666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354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05709-DEAE-49F5-84B9-38440980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86577-3B1E-4016-83C4-87516DC1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62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5B3E6-EE87-4853-94D5-4B3B7C0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71750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41593-1F9E-4D17-ACF5-FCC2AB0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76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B3833-787C-41DF-A76C-BDB21935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70C9B-375A-4B6F-9E1A-F4EB96F9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62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98D06-760B-4E1F-B6A1-0645449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71750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37938-EC15-41E9-B828-B377CC1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97695-55D0-45B6-9991-4B403F69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71750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8951B-B29C-4A26-A229-9883CD3E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562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4E2C6-6AE7-47BA-B0A1-AB1ADCB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43450"/>
            <a:ext cx="3181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16FDF-2513-4883-8EDF-E3A2AE4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434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5DEA3-4136-45FA-814C-B7EC6A47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8225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観測は装置境界で安く取れる情報だけ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026DF-6B68-4613-B7C9-5862D5A5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A9E0E-5361-4BB0-AA8A-073C089C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Host / VM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15CDE-118F-438E-B321-0F497DFC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アプリやOSの詳細には依存しない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BAAA4-4CB3-47C4-A9E0-228E1443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004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AD81F-0A82-484D-A95C-BCA3A157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956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956898-E625-4950-8050-2A2B119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D281C-9B03-444C-9A41-5A83E42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64E4D6-0369-42B3-84F5-FD0ECD2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432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Block storage controller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F622D2-AB9E-4F9D-99BC-5F4B7639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4800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timestamp / read-write / LBA / length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などを受ける境界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53C585-9D7D-4A9A-A365-3A8769E4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844828-8EE2-4007-8B27-5AA1848E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956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858C5-1376-408A-977E-47D33EF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63C85C-557C-40EA-9F6D-3B4F20C4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Protected volumes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6A6DE-E480-4BBB-B772-137E7221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多数volumeを10秒cadenceで見る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E0985A-8D36-4497-99C8-55DDDAEE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384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B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7786E8-F478-49B1-AA0B-BE54CF7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6D27DD-073B-4699-968F-B123E39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2C55E"/>
                </a:solidFill>
                <a:latin typeface="Hiragino Sans"/>
                <a:ea typeface="Hiragino Sans"/>
                <a:cs typeface="Hiragino Sans"/>
              </a:rPr>
              <a:t>組み込み検知パス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F61BF5-63F3-4B63-8C20-9B951CD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96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CEDD2F-64EB-41EC-AE7B-12E15351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collector</a:t>
            </a:r>
          </a:p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安いcounter集計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C08E20-B5C6-416C-ADC1-3AF2C77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196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09466E-DE48-4738-95E2-E54F691B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863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feature ring</a:t>
            </a:r>
          </a:p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N x Dを保持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5DE363-6356-4EC2-A065-C831528D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1E42E5-507C-4E1B-870D-7896E6F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863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AE score</a:t>
            </a:r>
          </a:p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再構成誤差を外側で判定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C9CC1E-55DD-4D37-8BE8-053A329C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68304F-EFE4-479A-9F6C-27614F9F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8FCCEC-8874-44E8-BD26-144B6281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816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観測境界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F9699E-5385-48A3-BAB3-6871A7F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3761DB-1195-46E1-8631-A5FE0E23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806566-856A-45C8-9CFB-0BDCAA43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816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検証対象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C91474-1D31-4BCC-964C-1716715F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2925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45111A-A53E-4C4D-A533-05C71079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292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0F4CCF-C8B6-4747-912C-69A709C7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未主張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4CF8FB-7CC5-4D32-921A-4AEFC5D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ブロック要求メタデータだけ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868278-720F-4121-AB43-63052900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867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軽いMLかを測る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CAB53E-4C8C-4AE3-A02D-B8E2A45B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67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性能・早期警告は未主張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5A99AA-56B7-407E-A88C-862F67A2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ECB131-1154-4259-9923-45125C20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rPr>
              <a:t>Source: docs/interface/ResearchBrief.md, docs/04_embedded_constraints.md, paper/sections/05_input_contract.tex</a:t>
            </a:r>
          </a:p>
        </p:txBody>
      </p:sp>
    </p:spTree>
    <p:extLst>
      <p:ext uri="{BB962C8B-B14F-4D97-AF65-F5344CB8AC3E}">
        <p14:creationId xmlns:p14="http://schemas.microsoft.com/office/powerpoint/2010/main" val="12588488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58799-374A-437B-8AB1-F0998CE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D86A4-1AC5-4EA2-B29E-2DFAD322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FBB90-40D7-488B-8817-17B5C528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C5FFE-8209-4870-93F0-EBD0F71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rPr>
              <a:t>DECISION FRAME | このプレゼンで決めること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9A9E3-8453-4819-9ECD-25CBFBB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A98D9-AE1B-406C-92D4-3D8BD396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2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導入判断の前に、候補を落とす条件を決める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3F6B7-D2DA-4A00-843B-E4B2F379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B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CD3FF-B24B-4445-B079-51C34314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3F7D5-D83D-4D5C-BF78-17677DC0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主張 | いま必要なのは採用可否の結論ではなく、次の実験で候補を採用・縮小・棄却する判定条件である。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5EB74-AED9-46DC-A386-84D83BE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3638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5240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96FBC-905D-43C1-AF0C-8FB9814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F5583-40C4-4005-9081-B3BBC317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38375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残す候補より先に、止める条件を固定する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51E6D-3DF4-4F3A-9ACA-68C2D52F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E1DAB-AB50-4868-AA54-993918E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BAAD8-8B90-4D16-BC2F-66E2AB8F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1. 単純規則で足りるか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6DB6F-198D-4FED-931C-5712278E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924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write ratio、I/O強度、LBA移動だけで説明できるならAEは縮小または棄却する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50AE4-229C-4BB3-A8A0-EFE63C4D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98196-2420-469B-94D1-FA21ACD8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623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4E05C-A74A-40E3-83E5-36F4FE4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28A4D-4AD1-41BF-88F8-CE4CF09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836D2-B01A-4B41-9C67-35C58CC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03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2. AEのどこまで必要か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607C9-9660-4EA4-B08E-33AB6E13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1924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Dense、時系列文脈、局所時間特徴、CNN-GRUを同じ入力で順番に比較する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906AD-F000-4B1E-87E2-F1A7E104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EEEDF-400A-4D00-A1F3-C879AC42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623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5B094-E27D-48F5-9DB3-93701E9B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12E0C-F254-4B96-95D1-BB032EAF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4C721-EC26-4851-BF60-CBB71006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3. 装置に載るか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085FB-A372-4FB7-B997-ED998F9D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924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500 KB detector-data、MNN score parity、10秒cadenceのCPU/slotを分けて測る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3BF32-A6B3-4C15-9D45-AC82C78F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15AFD-B7A2-46C6-A2F2-B5A1E730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623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C90E3-E95A-4D5B-B22E-DE421708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ACCF04-1422-4347-9114-0CDBE697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45D2EE-C3A7-4667-A7A6-8EC70AA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4. 次の証拠は何か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300EFE-A684-4806-A13C-9B85047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924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manifest付き実験、MNN変換、memory harnessのどれが意思決定を進めるかを明確にする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B811CE-8084-4CBC-BB75-DBA10BB9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D5F3E-CF8B-4771-91C9-D2FD5CDF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BE486-AABD-4258-8F03-D307A1BC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8635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進める条件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037E01-8D17-44D9-90DD-4AB9A110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3943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単純規則を超える説明価値があり、MNN変換後もscoreが一致し、per-volume状態とschedulingが予算内に収まる見込みを測れる。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8ED56D-8F99-4728-8CF8-5080E9E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3395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B95A29-812A-4D63-A527-3DB21529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339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F73287-00CD-4C66-9E47-7FB8DDE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8635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止める条件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21CF27-DBA3-4746-B6D4-15293EE5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91150"/>
            <a:ext cx="3943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単純規則で十分、cheap featureが不足、MNN parityが崩れる、500 KBまたは10秒cadenceのどちらかを満たせない。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724D09-5F31-4358-B81B-BE5B4198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BB68E7-E40B-452D-8A27-DB9558E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rPr>
              <a:t>Source: docs/03_PROJECT_RULES.md, docs/evidence/manuscript_claim_gate_matrix.md, docs/04_embedded_constraints.md</a:t>
            </a:r>
          </a:p>
        </p:txBody>
      </p:sp>
    </p:spTree>
    <p:extLst>
      <p:ext uri="{BB962C8B-B14F-4D97-AF65-F5344CB8AC3E}">
        <p14:creationId xmlns:p14="http://schemas.microsoft.com/office/powerpoint/2010/main" val="956533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A11F6-E56A-485C-BE24-26023FDE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A3111-4397-4E24-8B69-3BB21BC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72F30-955A-441D-A338-4B7BE91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FC2D6-E6B9-426C-9B1B-220A2C5B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rPr>
              <a:t>INPUT CONTRACT | 10秒統計からML入力へ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F4668-6D66-42AB-829E-C6CA08F8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E6206-211E-46D3-8B21-61F74C2E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175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生イベントを残さず、10秒統計だけを残す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A55A6-EE1A-4DA0-9C78-D59F814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B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05DE1-9EE9-4C9E-9D6E-E3BB98B6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4C0C8-99D5-4A62-8DE1-CF540AB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主張 | 装置に残すのはraw event列ではなく、10秒ごとに集約した固定長の統計列である。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4E9D3-1BDD-462E-8A29-910E00CD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724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A5320-ED0A-499F-BC2E-F7ECA17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381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6AA88-EC5A-4DB9-83DB-5B49895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frame_10s: 装置が安く集計できる候補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68818-2AF7-47F4-9A06-61A20316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719A6-6CA2-4EBE-8C06-4B15FB41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count /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A6879-D018-4771-801C-8C981C7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9560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B394F-D62C-494B-ABB4-7C3746D1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337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I/O量の強さ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A91F8-C1F8-4D88-8F1B-B34D2295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D6DE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7DC21-237C-4996-B2D7-E643322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write ratio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AB28C-66B1-4517-B374-E92B20AE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813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DB78F-658E-4A31-8653-E14FE365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1945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書き込み偏り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B010E-1428-455E-B48A-D7AB289A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6DE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3F1E7-E9BF-4E27-9741-F9404C9A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mean LBA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0E8DB-A3AA-479E-9A00-9DE03407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6710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E3A4A-F592-4AE7-8D24-9A50BD6D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052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アクセス位置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4D574-AF0C-42EA-AEDC-81C45947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D6DE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96329-2095-4298-9AF4-49D23851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mean length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8B0C2-1948-4F6C-BC34-2392875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528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48508-0069-4B53-92FD-3A4BDE4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転送長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2C06C-2D5D-4E04-AB89-5D5A755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6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AC65D-87BA-48F1-A598-E831309D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delta mean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7245EA-B3EF-4AB0-B932-A3AFD547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3860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9993C5-B4CA-4C6C-8247-CEEBFE36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767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前窓からの変化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64C61-285F-4D5C-8D1C-B9E431F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D6DE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F44244-9EFB-4FE5-9618-5E12E753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optional telemetry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B5E9C1-01E8-4D18-ACFE-362743F7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243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29FE2-723F-436A-9B91-DB1E4EA5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安い圧縮/entropy風カウンタがある時だけ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2259F5-4461-483F-A6E0-61182377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6DE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1AE63F-3999-4E48-8BF0-4C94D016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padding / mask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6E35D-D5AE-46E0-90B8-1CE0DD3D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D38D54-93EE-4FA3-AF56-0AAF7429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未提供欄はloss/scoreから外す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BEB4FB-44C4-427A-8CEB-D143A166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26098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D70181-A804-4FEC-8736-F6D4A615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266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X: [batch=1, N, D]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initial: N=12, D=12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context: 12 x 10s ~= 2 min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score: outside MNN graph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threshold: outside MNN graph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F95847-EFAA-442A-B60C-73A21740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247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B15FD3-A6AE-42F5-80BA-EE18EA5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38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1FFCDF-398E-4A0D-95EF-D3D4F8A9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なぜ固定shapeか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6316D9-64ED-4B41-9B6E-505F54C8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MNN変換、メモリ、CPU枠を同じ条件で比べるため。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808295-7B99-4DF5-934D-7843232C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9E99A-91B2-4A4A-9433-F3C2562F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86425"/>
            <a:ext cx="472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使わない: ファイルパス / プロセス名 / ランサムウェア署名 / ファイル本文scan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A90C0-658E-4D9D-BDA4-42904E4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197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821039-40A7-4601-80E8-FA65C978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8642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使う: SCSI/NVMe風メタデータ と 安い装置カウンタ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36CAE1-75B2-4BE7-8ACE-3277092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75FE6D-7C10-4605-A503-F572BFDF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rPr>
              <a:t>Source: paper/sections/05_input_contract.tex, docs/04_embedded_constraints.md, docs/06_memory_aware_ae_candidates.md</a:t>
            </a:r>
          </a:p>
        </p:txBody>
      </p:sp>
    </p:spTree>
    <p:extLst>
      <p:ext uri="{BB962C8B-B14F-4D97-AF65-F5344CB8AC3E}">
        <p14:creationId xmlns:p14="http://schemas.microsoft.com/office/powerpoint/2010/main" val="10058064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20FC6-DC63-4E4A-B867-45A55C5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A2C59-6919-43C0-8515-71BF1F0F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6E333-1581-4998-8C25-00D91662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21EF9-1A8A-4A46-B987-C0CA8632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rPr>
              <a:t>MODEL CANDIDATES | AE-01..05 の技術的な意味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5FB4A-BBCF-41EF-B083-A532089B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2320B-2459-4546-B18F-DB34739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175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AE候補は、追加演算の必要性を測る階段である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0D0C0-5CEA-4D16-80FF-5949D705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B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7269D-87E4-4CBB-A288-75B977B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984AA-7C2F-40F0-901B-10098896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主張 | 単純候補で説明できるなら止め、説明できない差分だけをDense、GRU、Conv1D、CNN-GRUへ渡す。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D59E5-BF23-4420-AC41-2A86478D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E7B6D-4D36-43EA-BAE2-AEE796A3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E6DA7-D2ED-4DAB-A117-B83F6201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288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2066A-B597-418D-82D8-39D04FB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C4B5C-CB27-4F93-B576-7FDB33EA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288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DCF96-C4A8-4483-AB60-B8A773A4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2800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operator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F39DF-76D4-4C91-950F-0AC0D9DC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288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9EEDC-3D0C-44B8-A836-F1343E74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1409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planning 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BC5EF-2ADE-47D9-A864-D9A492C2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288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E7842-47B4-431C-9197-15CF7F3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2514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評価する目的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C0A66-202F-4D69-B213-FFB63F8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5CE80-70F5-44DB-A860-8137E2ED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AE-01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D1484-1D8A-455C-95A3-1C1D64E4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AD5F3-44ED-4484-8837-2A86445C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Flat MLP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70EA3-CCC8-4C6D-9C4E-347BEA5A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47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420EE-0B6B-414F-B1BD-7D714D7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241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flattenした2分窓を圧縮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C1E00-FB9A-43E4-AD2E-09994130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E0DAF-7987-474F-8CD9-7509810C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9,944-20,768 params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E5EFE-0180-4B4B-9E8A-F4B51CD1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921B2-F658-41AD-A15E-305132D9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粗い統計だけでズレが見えるか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B004F-4093-415D-9F47-2796CBBF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9AA732-4A78-4836-866D-A23776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AE-02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AA0F38-2F86-44AA-9DBB-23950165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4B1A9-644D-40F9-A43D-25DC0B94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Two-level Dense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282C93-B91D-4A2E-86E9-C5A3D01B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00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028776-35C0-45F8-95B1-1750AFE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766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10秒ごとの圧縮 + 系列圧縮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7013B-4A27-4601-A110-07481070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88C6B0-EDBB-485B-9D2E-17890227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5,836 params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413BF0-C826-44E1-BC56-151C416E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962138-7E1E-4061-B378-4135D92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時間演算なしで足りるか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9B46BA-C482-42E0-A74A-B384FFD9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5143A8-9876-43D2-98E5-9D896732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AE-03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F0EC58-C03E-40D7-8376-EFE2637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80F56-E7EA-455B-B400-E2B0411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290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GRU context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283D66-6D2C-47C5-AA92-A6FFF5BD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EA2D13-2A00-4F5B-A02B-1FF3F763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290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順序と過去文脈を付与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47CDB4-6A67-4220-832B-B03D6ECA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452113-FE9C-4363-B3A3-FE05651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7,052 params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DE848D-EBA1-4969-B63E-183B3F34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D4BDCC-054E-4D46-905B-576D191A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履歴を見ないと説明できないか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B0E8BA-62F3-4402-8503-AEDAAF75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F9A99A-9B7A-4714-BC63-8D8A01E3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AE-04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E16851-79FB-4F03-9BE9-7FA63F4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05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87A782-051E-46A1-816D-F5B6B50F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Temporal Conv1D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DFE0C1-DA1C-430B-A02F-117981CA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05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58986D-2CA5-4C98-82DB-25AC6B25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815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近傍時間の局所変化を抽出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07DC1F-025A-4EBC-B0FE-021EBD5F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AC5ADE-1F11-45B5-84DA-4B4E74ED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815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5,684 params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55183D-B087-4A48-82E3-CFB4D8D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05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770253-8270-46D1-9B0D-948916AB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GRUなしの時間特徴で足りるか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335E0D-0B3B-4267-BFB9-8DA2FA1E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0EACB8-042C-45CC-8474-892A34B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1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97316"/>
                </a:solidFill>
                <a:latin typeface="Hiragino Sans"/>
                <a:ea typeface="Hiragino Sans"/>
                <a:cs typeface="Hiragino Sans"/>
              </a:rPr>
              <a:t>AE-05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38133F-1359-4E85-87FC-74BECCCF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B27CB9-5857-462C-8B01-5196B04F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Tiny CNN-GRU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CE7A02-33ED-4059-B179-4ECC0051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57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F91DD3-A9C5-4F14-BDF3-AFC9D710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339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特徴混合 + 文脈 + bottleneck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93C284-8ED6-4EA4-8AB6-6F71F219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57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D22E7D-3675-4EB2-890A-C6F67110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8,052 params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E92647-4836-4138-8024-0C2891E5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7FCEC4-DE26-42E8-845B-E24354EA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複合モデルの追加演算に価値があるか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F49113-47D8-48E7-AA27-D4AF70B2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A37AB7-01D6-4787-88EE-B57A5B7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19775"/>
            <a:ext cx="3771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選定方針: 簡単な候補で説明できるなら、そこで止める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537BDB9-B7D3-4291-B427-FEF97036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531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98D0CF-0A5B-4D22-B646-2B2846BD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819775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未主張: 実測前に性能順位・MNN適合・500KB内に収まった結論を言わない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743D2E-ED08-4962-915A-A5D4F37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A7F877-0605-4B6F-8BD0-912866E6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rPr>
              <a:t>Source: docs/06_memory_aware_ae_candidates.md, paper/sections/06_autoencoder_candidates.tex</a:t>
            </a:r>
          </a:p>
        </p:txBody>
      </p:sp>
    </p:spTree>
    <p:extLst>
      <p:ext uri="{BB962C8B-B14F-4D97-AF65-F5344CB8AC3E}">
        <p14:creationId xmlns:p14="http://schemas.microsoft.com/office/powerpoint/2010/main" val="18636144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5EBDA-C07F-4449-9C02-39548EC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0A0D6-1DE1-4736-B7AF-ADEAA494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B68C-12BF-4187-A47F-8676622F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3AE36-6135-465C-AAD1-EA38DD81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rPr>
              <a:t>RESOURCE BUDGET | MLに使える資源は小さい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9CC2B-39B1-4B74-858D-271C11E8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D8BE5-4FA7-49EC-B290-18FC65C5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10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500 KBの判定では、重みだけでなくvolumeごとの状態も数える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5453-4E16-4E50-A7A7-EA581A73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B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A3A6D-8F80-4990-906A-FBCF6A9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6A2C6-037F-49C4-96B6-A6ED1376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主張 | 測る対象はモデル重みだけではなく、入力列、正規化、threshold、score履歴を含むper-volume detector-dataである。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035B4-8DD5-4EA9-BDE3-425571A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4386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C30F2-81BD-400B-8BE8-D1F4C0CD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8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9D3E3-7BDD-4033-A7B9-4D18CA49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per-volume detector-data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6CC21-F9BD-4A19-8715-1593B64F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30B6A-221B-401D-AE87-56DBCE4F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2495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model weights + quant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9A313-01D7-47B6-BCB2-479BEC9C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0B4B4-AB16-4545-BEBD-6FFFBC3C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&lt;= 360 KB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1EEE7-B1DA-4FBB-8506-E582DDF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CF34C-A873-402A-8A20-7BEF9B0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2495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10s input sequence buffers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1A4E1-1810-4D5C-81AD-A40A95CF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53CBB-2746-4C35-B169-912AD315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480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&lt;= 64 KB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E8182-0D84-4F5C-92F1-ADD6CD9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C9060-D749-4C5A-B3CF-4856047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2495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normalization /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0D624-A35D-480B-8531-2B00956C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9C4CB-D7DB-40EF-8A4E-86609707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481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&lt;= 24 KB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F4630-2A80-403C-A760-60D3286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E3139-F50F-4CE1-A310-3D37537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495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score history / explanation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19FFE-E9F0-47B3-AD60-FA1C820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1005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E06F8-0980-4486-8972-A97A2F1C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48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&lt;= 16 KB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B9741-5860-493F-9271-5812021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AF5E6-52BC-4E3B-9A2D-B225078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2495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metadata + margin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540E2-0007-44D8-9E1F-8117A332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1010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77B3B2-5A0E-495D-8104-F6AE1973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482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97316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97316"/>
                </a:solidFill>
                <a:latin typeface="Hiragino Sans"/>
                <a:ea typeface="Hiragino Sans"/>
                <a:cs typeface="Hiragino Sans"/>
              </a:rPr>
              <a:t>&lt;= 36 KB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1719B-65EC-462C-9FF4-349AB248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上限目安。実装・MNN変換後の測定で置き換える。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5E63A-1519-44CA-AB3C-32E79DBD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EAE34D-B447-4BE0-9407-69CE0E5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38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A7684-B9CA-454F-8520-B7F9AC2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aggregate device-fit 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DD5B09-EE13-4BAA-8873-7C862BFC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41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M_persistent(V) = M_shared_runtime + M_shared_weights + V x state_per_volume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M_peak(V,Q) = M_persistent(V) + Q x transient_scratch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425B90-103D-4C0E-BE49-8FA906D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195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B29729-4BB1-435F-937A-1A20874A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86225"/>
            <a:ext cx="1390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V ~= 2000</a:t>
            </a:r>
          </a:p>
          <a:p xmlns:a="http://schemas.openxmlformats.org/drawingml/2006/main">
            <a:pPr algn="ctr">
              <a:defRPr sz="713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多数volumeを同じ10秒cadenceで守る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3DF9BF-5996-41F1-A227-966B908D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ED05C7-D068-41A2-99AA-1CDB9321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1390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Q slots</a:t>
            </a:r>
          </a:p>
          <a:p xmlns:a="http://schemas.openxmlformats.org/drawingml/2006/main">
            <a:pPr algn="ctr">
              <a:defRPr sz="713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同時推論slot数で一時scratchが増える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15F4EB-47C6-487A-99F6-F08D1B10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195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8A4265-43AA-42CC-BA6C-C1E8B6D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86225"/>
            <a:ext cx="1390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CPU window</a:t>
            </a:r>
          </a:p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10秒内に全volumeを採点できるか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4EA5A3-07EA-4912-881A-F445BFC7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052FF5-3041-4B19-8D3E-DC9E27F6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rPr>
              <a:t>Source: docs/04_embedded_constraints.md, docs/memo/500kb_budget_reconciliation.md, paper/sections/08_mnn_implementation_plan.tex</a:t>
            </a:r>
          </a:p>
        </p:txBody>
      </p:sp>
    </p:spTree>
    <p:extLst>
      <p:ext uri="{BB962C8B-B14F-4D97-AF65-F5344CB8AC3E}">
        <p14:creationId xmlns:p14="http://schemas.microsoft.com/office/powerpoint/2010/main" val="15788493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9D851-C268-4945-822E-3D2ED845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0183F-0135-417C-B18A-C447DD0B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0788A-5C79-4837-96AE-33C2C4CB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21231-963C-447A-A63D-FD21321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475569"/>
                </a:solidFill>
                <a:latin typeface="Hiragino Sans"/>
                <a:ea typeface="Hiragino Sans"/>
                <a:cs typeface="Hiragino Sans"/>
              </a:rPr>
              <a:t>EVALUATION | 技術判断に必要な証拠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3DEA-2C43-4FA5-81EC-342FD3A2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13904-D9C0-4631-886C-700E9B6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250" b="1">
                <a:solidFill>
                  <a:srgbClr val="111827"/>
                </a:solidFill>
                <a:latin typeface="Hiragino Mincho ProN"/>
                <a:ea typeface="Hiragino Mincho ProN"/>
                <a:cs typeface="Hiragino Mincho ProN"/>
              </a:rPr>
              <a:t>採用・縮小・棄却は、四つの証拠を見て決める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8F712-479A-4B7C-9C96-97310320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B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39D5C-4236-4D25-A593-3F015CF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4A9DE-92D1-4388-9890-AB51F4E0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主張 | 精度だけで採用せず、offline比較、MNN parity、detector-data、10秒cadenceを同じゲートで判定する。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B1798-9C82-448F-B0B0-08910D14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524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A2D8C-AC8C-4D96-93F2-7CDB33C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00EC9-EA1A-4534-A3C5-84FC4088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すぐ導入できる、とは言わない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41200-A63F-40CD-AC25-6423AA9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247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7177-0D32-49B5-AC91-54EC55C7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8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304A0-65B3-483D-BF57-DCE5D4E1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1. offline検証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F27DA-8CF0-4B36-B81F-8C33C5EA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benign-only学習、単純規則、AE-01..05、低誤警報で比較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5D510-D9BB-476A-9DED-0FA2A948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6AEA1-031A-403B-ADE0-ABF9F41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146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A65B9-5A7A-41CD-ACAD-D41CC80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247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EA545-FF90-4C03-9D60-D3275814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38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36C09-86CB-4897-A1A4-CE78DFF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2. score parity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E7BA7-064E-4F4C-A8DF-E359DABE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同一入力でoffline scoreとMNN scoreの差を測る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AEED5-5730-4606-9288-FC8F4ED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99117-1D37-4198-9749-A2CF6337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146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F0E0D-72F8-43C0-9976-349E7B6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247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9EFF7-B806-4935-BCB5-E0C953A8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38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753B0-A4BF-4350-A483-50DA9476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3. detector-data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BEEF70-4637-4B67-AD8F-0AA4F4CD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重み、入力列、正規化、threshold、履歴が500 KB内か測る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565B24-875E-4F23-AD54-4573DF9D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55D17A-8858-417F-8384-D42AD02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146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4748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321A8-1BFA-45CA-A286-F65D93E8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2247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47CC9-98C7-4A9D-8388-655FCE8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38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2DEF86-E6E6-4A2E-91E3-FA0B987F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4. scheduling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52683-6214-4F02-B56D-18BE4A5A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V volumeとQ inference slotで10秒cadenceを守れるか測る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3166DE-CE09-4B73-A0F4-BB08752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EC9212-A8E1-4B12-8594-810E8B9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B1D21-F13F-4C9F-B9B1-8B8A890C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主要な評価値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38DA30-BFE3-49AD-B0EB-C61B0249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誤警報の少なさ / 警告までの時間 / 警告前の被害量 / どの特徴がズレたか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6EAE50-CFBC-4E51-882D-B9F2D503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100B53-3341-4A35-9ED6-3C2D8FD9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4D3458-46CA-44CC-B341-683B5831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制約に当たった時の縮小順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B36CFE-AC42-4CF3-A725-91F776D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rPr>
              <a:t>feature数Dを減らす -&gt; 系列長Nを短くする -&gt; hidden sizeを縮める -&gt; AE-05から単純候補へ戻す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A41A10-82C8-4C0A-B654-AE09C3A6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531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641F9A-B024-40DE-A7B4-6EB41CF9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19775"/>
            <a:ext cx="491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固定済み: block I/O観測境界、10秒統計、AE候補、device-fit gates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40A938-2441-4A17-B90B-3E43E77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531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5E4B4C-1396-43C6-BB3E-9E79050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1977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未主張: 検出性能、MNN readiness、500KB内に収まった結論、実運用早期警告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48DAE2-A42E-4B98-949A-55C7896A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CA69B1-839F-4177-9616-034C75C1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7890A8"/>
                </a:solidFill>
                <a:latin typeface="Hiragino Sans"/>
                <a:ea typeface="Hiragino Sans"/>
                <a:cs typeface="Hiragino Sans"/>
              </a:rPr>
              <a:t>Source: paper/sections/07_evaluation_plan.tex, paper/sections/08_mnn_implementation_plan.tex, docs/evidence/manuscript_claim_gate_matrix.md</a:t>
            </a:r>
          </a:p>
        </p:txBody>
      </p:sp>
    </p:spTree>
    <p:extLst>
      <p:ext uri="{BB962C8B-B14F-4D97-AF65-F5344CB8AC3E}">
        <p14:creationId xmlns:p14="http://schemas.microsoft.com/office/powerpoint/2010/main" val="1159740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2026-05-16T22:50:41.3320000Z</dcterms:created>
  <dcterms:modified xsi:type="dcterms:W3CDTF">2026-05-16T22:50:41.3320000Z</dcterms:modified>
</coreProperties>
</file>